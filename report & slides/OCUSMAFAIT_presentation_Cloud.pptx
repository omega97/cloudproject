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2" r:id="rId3"/>
    <p:sldId id="267" r:id="rId4"/>
    <p:sldId id="264" r:id="rId5"/>
    <p:sldId id="265" r:id="rId6"/>
    <p:sldId id="274" r:id="rId7"/>
    <p:sldId id="273" r:id="rId8"/>
    <p:sldId id="272" r:id="rId9"/>
    <p:sldId id="259" r:id="rId10"/>
    <p:sldId id="275" r:id="rId11"/>
    <p:sldId id="276" r:id="rId12"/>
    <p:sldId id="277" r:id="rId13"/>
    <p:sldId id="260" r:id="rId14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BF69"/>
    <a:srgbClr val="181B1F"/>
    <a:srgbClr val="006BC0"/>
    <a:srgbClr val="299EFF"/>
    <a:srgbClr val="F05A28"/>
    <a:srgbClr val="FAC40C"/>
    <a:srgbClr val="E6522C"/>
    <a:srgbClr val="F4841D"/>
    <a:srgbClr val="0082C9"/>
    <a:srgbClr val="EC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noProof="0" dirty="0"/>
            <a:t>✓ </a:t>
          </a:r>
          <a:r>
            <a:rPr lang="en-US" b="1" noProof="0" dirty="0"/>
            <a:t>Fully containerized Nextcloud deployment</a:t>
          </a:r>
          <a:r>
            <a:rPr lang="en-US" noProof="0" dirty="0"/>
            <a:t>  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it-IT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it-IT" noProof="0" dirty="0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✓ </a:t>
          </a:r>
          <a:r>
            <a:rPr lang="en-US" b="1" noProof="0" dirty="0"/>
            <a:t>Complete monitoring stack </a:t>
          </a:r>
          <a:r>
            <a:rPr lang="en-US" noProof="0" dirty="0"/>
            <a:t>(Prometheus + Grafana)  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it-IT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it-IT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noProof="0" dirty="0"/>
            <a:t>✓ Automated </a:t>
          </a:r>
          <a:r>
            <a:rPr lang="en-US" b="1" noProof="0" dirty="0"/>
            <a:t>load testing </a:t>
          </a:r>
          <a:r>
            <a:rPr lang="en-US" noProof="0" dirty="0"/>
            <a:t>with Locust  </a:t>
          </a: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it-IT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it-IT" noProof="0" dirty="0"/>
        </a:p>
      </dgm:t>
    </dgm:pt>
    <dgm:pt modelId="{EDDC8CBD-C13A-47F4-A23C-9C351C971894}">
      <dgm:prSet/>
      <dgm:spPr/>
      <dgm:t>
        <a:bodyPr/>
        <a:lstStyle/>
        <a:p>
          <a:r>
            <a:rPr lang="en-US" noProof="0" dirty="0"/>
            <a:t>✓ Comprehensive </a:t>
          </a:r>
          <a:r>
            <a:rPr lang="en-US" b="1" noProof="0" dirty="0"/>
            <a:t>documentation</a:t>
          </a:r>
          <a:r>
            <a:rPr lang="en-US" noProof="0" dirty="0"/>
            <a:t> and </a:t>
          </a:r>
          <a:r>
            <a:rPr lang="en-US" b="1" noProof="0" dirty="0"/>
            <a:t>execution logs</a:t>
          </a:r>
          <a:endParaRPr lang="en-AE" b="1" dirty="0"/>
        </a:p>
      </dgm:t>
    </dgm:pt>
    <dgm:pt modelId="{14C4D14F-C0D1-4F5F-A0B5-C4AAA1D6A4AE}" type="parTrans" cxnId="{6ACAAF5F-0982-4135-88D4-1CDBE2A3BC48}">
      <dgm:prSet/>
      <dgm:spPr/>
      <dgm:t>
        <a:bodyPr/>
        <a:lstStyle/>
        <a:p>
          <a:endParaRPr lang="en-AE"/>
        </a:p>
      </dgm:t>
    </dgm:pt>
    <dgm:pt modelId="{5AE557A7-A030-4EC2-8B23-3742039B3BAB}" type="sibTrans" cxnId="{6ACAAF5F-0982-4135-88D4-1CDBE2A3BC48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4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4"/>
      <dgm:spPr/>
    </dgm:pt>
    <dgm:pt modelId="{429CABD1-4116-474B-81BF-735E2CA9DD00}" type="pres">
      <dgm:prSet presAssocID="{7E5AA53B-3EEE-4DE4-BB81-9044890C2946}" presName="dstNode" presStyleLbl="node1" presStyleIdx="0" presStyleCnt="4"/>
      <dgm:spPr/>
    </dgm:pt>
    <dgm:pt modelId="{58319267-C71E-43C9-94E1-827D0616C7A7}" type="pres">
      <dgm:prSet presAssocID="{6750AC01-D39D-4F3A-9DC8-2A211EE986A2}" presName="text_1" presStyleLbl="node1" presStyleIdx="0" presStyleCnt="4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4"/>
      <dgm:spPr/>
    </dgm:pt>
    <dgm:pt modelId="{95DE6538-27BD-44AF-A1A8-CA8F6B10FDD2}" type="pres">
      <dgm:prSet presAssocID="{0BEF68B8-1228-47BB-83B5-7B9CD1E3F84E}" presName="text_2" presStyleLbl="node1" presStyleIdx="1" presStyleCnt="4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4"/>
      <dgm:spPr/>
    </dgm:pt>
    <dgm:pt modelId="{E131CE4A-9776-44F4-BC03-867682E21374}" type="pres">
      <dgm:prSet presAssocID="{5605D28D-2CE6-4513-8566-952984E21E14}" presName="text_3" presStyleLbl="node1" presStyleIdx="2" presStyleCnt="4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4"/>
      <dgm:spPr/>
    </dgm:pt>
    <dgm:pt modelId="{BC698A59-4AF8-4F70-AD5F-EF019206496D}" type="pres">
      <dgm:prSet presAssocID="{EDDC8CBD-C13A-47F4-A23C-9C351C971894}" presName="text_4" presStyleLbl="node1" presStyleIdx="3" presStyleCnt="4">
        <dgm:presLayoutVars>
          <dgm:bulletEnabled val="1"/>
        </dgm:presLayoutVars>
      </dgm:prSet>
      <dgm:spPr/>
    </dgm:pt>
    <dgm:pt modelId="{6FD1495C-4D61-4B5F-BDED-5AB0D3290C4F}" type="pres">
      <dgm:prSet presAssocID="{EDDC8CBD-C13A-47F4-A23C-9C351C971894}" presName="accent_4" presStyleCnt="0"/>
      <dgm:spPr/>
    </dgm:pt>
    <dgm:pt modelId="{DEE4DF27-9FDB-45CF-9173-0B2727D01B22}" type="pres">
      <dgm:prSet presAssocID="{EDDC8CBD-C13A-47F4-A23C-9C351C971894}" presName="accentRepeatNode" presStyleLbl="solidFgAcc1" presStyleIdx="3" presStyleCnt="4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A0C2271F-8245-4E80-A12A-7A3B0D4DD008}" type="presOf" srcId="{EDDC8CBD-C13A-47F4-A23C-9C351C971894}" destId="{BC698A59-4AF8-4F70-AD5F-EF019206496D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6ACAAF5F-0982-4135-88D4-1CDBE2A3BC48}" srcId="{7E5AA53B-3EEE-4DE4-BB81-9044890C2946}" destId="{EDDC8CBD-C13A-47F4-A23C-9C351C971894}" srcOrd="3" destOrd="0" parTransId="{14C4D14F-C0D1-4F5F-A0B5-C4AAA1D6A4AE}" sibTransId="{5AE557A7-A030-4EC2-8B23-3742039B3BAB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  <dgm:cxn modelId="{5D7F420E-86CB-4260-8BA2-1DAC4B3EE7B3}" type="presParOf" srcId="{90561C55-3C6E-4D53-85E1-2C50BCDDA392}" destId="{BC698A59-4AF8-4F70-AD5F-EF019206496D}" srcOrd="7" destOrd="0" presId="urn:microsoft.com/office/officeart/2008/layout/VerticalCurvedList"/>
    <dgm:cxn modelId="{5F67323D-32D7-4DAF-BF53-5770A6EFB1EE}" type="presParOf" srcId="{90561C55-3C6E-4D53-85E1-2C50BCDDA392}" destId="{6FD1495C-4D61-4B5F-BDED-5AB0D3290C4F}" srcOrd="8" destOrd="0" presId="urn:microsoft.com/office/officeart/2008/layout/VerticalCurvedList"/>
    <dgm:cxn modelId="{FDAD40F9-6E16-46D5-9226-E982FEFE71C0}" type="presParOf" srcId="{6FD1495C-4D61-4B5F-BDED-5AB0D3290C4F}" destId="{DEE4DF27-9FDB-45CF-9173-0B2727D01B2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754CCEC5-D25D-4D38-A749-7EC19E0C7B05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Medium files (5MB): </a:t>
          </a:r>
          <a:br>
            <a:rPr lang="en-US" dirty="0"/>
          </a:br>
          <a:r>
            <a:rPr lang="en-US" dirty="0"/>
            <a:t>median response ~44–49 </a:t>
          </a:r>
          <a:r>
            <a:rPr lang="en-US" dirty="0" err="1"/>
            <a:t>ms</a:t>
          </a:r>
          <a:r>
            <a:rPr lang="en-US" dirty="0"/>
            <a:t> at 10 concurrent users </a:t>
          </a:r>
          <a:endParaRPr lang="en-AE" dirty="0"/>
        </a:p>
      </dgm:t>
    </dgm:pt>
    <dgm:pt modelId="{1362388A-3561-4409-AA00-2B14082D623E}" type="parTrans" cxnId="{A4DB6236-7D7D-4C66-9CBE-BC73ED2A15B8}">
      <dgm:prSet/>
      <dgm:spPr/>
      <dgm:t>
        <a:bodyPr/>
        <a:lstStyle/>
        <a:p>
          <a:endParaRPr lang="en-AE"/>
        </a:p>
      </dgm:t>
    </dgm:pt>
    <dgm:pt modelId="{A3FBFD7F-B4DC-4616-8EC3-453375C9CD29}" type="sibTrans" cxnId="{A4DB6236-7D7D-4C66-9CBE-BC73ED2A15B8}">
      <dgm:prSet/>
      <dgm:spPr/>
      <dgm:t>
        <a:bodyPr/>
        <a:lstStyle/>
        <a:p>
          <a:endParaRPr lang="en-AE"/>
        </a:p>
      </dgm:t>
    </dgm:pt>
    <dgm:pt modelId="{F128A51E-021E-4082-AE0D-BBB0B65E75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System </a:t>
          </a:r>
          <a:r>
            <a:rPr lang="en-US" b="1" noProof="0" dirty="0"/>
            <a:t>handles</a:t>
          </a:r>
          <a:r>
            <a:rPr lang="en-US" noProof="0" dirty="0"/>
            <a:t> </a:t>
          </a:r>
          <a:r>
            <a:rPr lang="en-US" b="1" noProof="0" dirty="0"/>
            <a:t>well </a:t>
          </a:r>
          <a:r>
            <a:rPr lang="en-US" noProof="0" dirty="0"/>
            <a:t>moderate concurrent load</a:t>
          </a:r>
          <a:endParaRPr lang="en-AE" dirty="0"/>
        </a:p>
      </dgm:t>
    </dgm:pt>
    <dgm:pt modelId="{FDB4144E-0715-4B0C-9C37-8DD829734B37}" type="parTrans" cxnId="{8E82D88E-2FD7-4961-B4C5-B43E8FA53110}">
      <dgm:prSet/>
      <dgm:spPr/>
      <dgm:t>
        <a:bodyPr/>
        <a:lstStyle/>
        <a:p>
          <a:endParaRPr lang="en-AE"/>
        </a:p>
      </dgm:t>
    </dgm:pt>
    <dgm:pt modelId="{1B21DFB0-470D-451F-9BF1-C8889A2DA488}" type="sibTrans" cxnId="{8E82D88E-2FD7-4961-B4C5-B43E8FA53110}">
      <dgm:prSet/>
      <dgm:spPr/>
      <dgm:t>
        <a:bodyPr/>
        <a:lstStyle/>
        <a:p>
          <a:endParaRPr lang="en-AE"/>
        </a:p>
      </dgm:t>
    </dgm:pt>
    <dgm:pt modelId="{E49F7F7D-1C44-4752-95D9-D3BEB1F1BE3B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noProof="0" dirty="0"/>
            <a:t>Load testing </a:t>
          </a:r>
          <a:r>
            <a:rPr lang="en-US" noProof="0"/>
            <a:t>shows that performance </a:t>
          </a:r>
          <a:r>
            <a:rPr lang="en-US" noProof="0" dirty="0"/>
            <a:t>is consistent for any small number of users</a:t>
          </a:r>
          <a:endParaRPr lang="en-AE" dirty="0">
            <a:solidFill>
              <a:srgbClr val="FF0000"/>
            </a:solidFill>
          </a:endParaRPr>
        </a:p>
      </dgm:t>
    </dgm:pt>
    <dgm:pt modelId="{A7F59A2C-02B1-4D35-9879-B699C2016C7B}" type="parTrans" cxnId="{7C5C65AB-A050-45DE-A968-D68F4802CCCA}">
      <dgm:prSet/>
      <dgm:spPr/>
      <dgm:t>
        <a:bodyPr/>
        <a:lstStyle/>
        <a:p>
          <a:endParaRPr lang="en-AE"/>
        </a:p>
      </dgm:t>
    </dgm:pt>
    <dgm:pt modelId="{28AD5939-528F-4C40-992A-DDD4BB0A4FC2}" type="sibTrans" cxnId="{7C5C65AB-A050-45DE-A968-D68F4802CCCA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8AC13D3F-FE13-426C-8D82-58E1308FBA67}" type="pres">
      <dgm:prSet presAssocID="{754CCEC5-D25D-4D38-A749-7EC19E0C7B05}" presName="text_1" presStyleLbl="node1" presStyleIdx="0" presStyleCnt="3">
        <dgm:presLayoutVars>
          <dgm:bulletEnabled val="1"/>
        </dgm:presLayoutVars>
      </dgm:prSet>
      <dgm:spPr/>
    </dgm:pt>
    <dgm:pt modelId="{9324455E-86D2-46DD-AF06-050846C59ED8}" type="pres">
      <dgm:prSet presAssocID="{754CCEC5-D25D-4D38-A749-7EC19E0C7B05}" presName="accent_1" presStyleCnt="0"/>
      <dgm:spPr/>
    </dgm:pt>
    <dgm:pt modelId="{6EE5C1A0-B088-40A5-AAC6-770F0F77F0C2}" type="pres">
      <dgm:prSet presAssocID="{754CCEC5-D25D-4D38-A749-7EC19E0C7B05}" presName="accentRepeatNode" presStyleLbl="solidFgAcc1" presStyleIdx="0" presStyleCnt="3"/>
      <dgm:spPr/>
    </dgm:pt>
    <dgm:pt modelId="{A0F6046D-AFD8-45FE-906D-88119476BC36}" type="pres">
      <dgm:prSet presAssocID="{F128A51E-021E-4082-AE0D-BBB0B65E75A5}" presName="text_2" presStyleLbl="node1" presStyleIdx="1" presStyleCnt="3">
        <dgm:presLayoutVars>
          <dgm:bulletEnabled val="1"/>
        </dgm:presLayoutVars>
      </dgm:prSet>
      <dgm:spPr/>
    </dgm:pt>
    <dgm:pt modelId="{579FED42-B462-4E32-A825-8B806077435B}" type="pres">
      <dgm:prSet presAssocID="{F128A51E-021E-4082-AE0D-BBB0B65E75A5}" presName="accent_2" presStyleCnt="0"/>
      <dgm:spPr/>
    </dgm:pt>
    <dgm:pt modelId="{7B551D9A-A806-4865-914D-7FEAEC095F0A}" type="pres">
      <dgm:prSet presAssocID="{F128A51E-021E-4082-AE0D-BBB0B65E75A5}" presName="accentRepeatNode" presStyleLbl="solidFgAcc1" presStyleIdx="1" presStyleCnt="3"/>
      <dgm:spPr/>
    </dgm:pt>
    <dgm:pt modelId="{80AEF5D7-0E00-4056-B6A9-08106D6CFFDA}" type="pres">
      <dgm:prSet presAssocID="{E49F7F7D-1C44-4752-95D9-D3BEB1F1BE3B}" presName="text_3" presStyleLbl="node1" presStyleIdx="2" presStyleCnt="3">
        <dgm:presLayoutVars>
          <dgm:bulletEnabled val="1"/>
        </dgm:presLayoutVars>
      </dgm:prSet>
      <dgm:spPr/>
    </dgm:pt>
    <dgm:pt modelId="{97991A51-3DED-42D6-A950-B013FBD4B661}" type="pres">
      <dgm:prSet presAssocID="{E49F7F7D-1C44-4752-95D9-D3BEB1F1BE3B}" presName="accent_3" presStyleCnt="0"/>
      <dgm:spPr/>
    </dgm:pt>
    <dgm:pt modelId="{64F0D975-B6B3-4B7E-B1E4-E4B8C82D8F15}" type="pres">
      <dgm:prSet presAssocID="{E49F7F7D-1C44-4752-95D9-D3BEB1F1BE3B}" presName="accentRepeatNode" presStyleLbl="solidFgAcc1" presStyleIdx="2" presStyleCnt="3"/>
      <dgm:spPr/>
    </dgm:pt>
  </dgm:ptLst>
  <dgm:cxnLst>
    <dgm:cxn modelId="{A4DB6236-7D7D-4C66-9CBE-BC73ED2A15B8}" srcId="{7E5AA53B-3EEE-4DE4-BB81-9044890C2946}" destId="{754CCEC5-D25D-4D38-A749-7EC19E0C7B05}" srcOrd="0" destOrd="0" parTransId="{1362388A-3561-4409-AA00-2B14082D623E}" sibTransId="{A3FBFD7F-B4DC-4616-8EC3-453375C9CD29}"/>
    <dgm:cxn modelId="{A9622045-0E90-4416-BA0D-448BF0BF1B7E}" type="presOf" srcId="{A3FBFD7F-B4DC-4616-8EC3-453375C9CD29}" destId="{D79B43FC-100B-4A0D-A4D5-0D2D04B99064}" srcOrd="0" destOrd="0" presId="urn:microsoft.com/office/officeart/2008/layout/VerticalCurvedList"/>
    <dgm:cxn modelId="{8E82D88E-2FD7-4961-B4C5-B43E8FA53110}" srcId="{7E5AA53B-3EEE-4DE4-BB81-9044890C2946}" destId="{F128A51E-021E-4082-AE0D-BBB0B65E75A5}" srcOrd="1" destOrd="0" parTransId="{FDB4144E-0715-4B0C-9C37-8DD829734B37}" sibTransId="{1B21DFB0-470D-451F-9BF1-C8889A2DA488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7C5C65AB-A050-45DE-A968-D68F4802CCCA}" srcId="{7E5AA53B-3EEE-4DE4-BB81-9044890C2946}" destId="{E49F7F7D-1C44-4752-95D9-D3BEB1F1BE3B}" srcOrd="2" destOrd="0" parTransId="{A7F59A2C-02B1-4D35-9879-B699C2016C7B}" sibTransId="{28AD5939-528F-4C40-992A-DDD4BB0A4FC2}"/>
    <dgm:cxn modelId="{EDE7FAB6-CC54-43D5-811A-8DF95B474833}" type="presOf" srcId="{E49F7F7D-1C44-4752-95D9-D3BEB1F1BE3B}" destId="{80AEF5D7-0E00-4056-B6A9-08106D6CFFDA}" srcOrd="0" destOrd="0" presId="urn:microsoft.com/office/officeart/2008/layout/VerticalCurvedList"/>
    <dgm:cxn modelId="{A5BD87E0-38D5-4AEF-BEB5-3BB418D97581}" type="presOf" srcId="{754CCEC5-D25D-4D38-A749-7EC19E0C7B05}" destId="{8AC13D3F-FE13-426C-8D82-58E1308FBA67}" srcOrd="0" destOrd="0" presId="urn:microsoft.com/office/officeart/2008/layout/VerticalCurvedList"/>
    <dgm:cxn modelId="{D7B7EBF6-82F7-44E3-A32D-A8FA137D110B}" type="presOf" srcId="{F128A51E-021E-4082-AE0D-BBB0B65E75A5}" destId="{A0F6046D-AFD8-45FE-906D-88119476BC36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ECBE337D-7809-40C5-9B5A-A6030ED2F021}" type="presParOf" srcId="{90561C55-3C6E-4D53-85E1-2C50BCDDA392}" destId="{8AC13D3F-FE13-426C-8D82-58E1308FBA67}" srcOrd="1" destOrd="0" presId="urn:microsoft.com/office/officeart/2008/layout/VerticalCurvedList"/>
    <dgm:cxn modelId="{82201FFE-F78D-4A78-A188-9BF410461D6F}" type="presParOf" srcId="{90561C55-3C6E-4D53-85E1-2C50BCDDA392}" destId="{9324455E-86D2-46DD-AF06-050846C59ED8}" srcOrd="2" destOrd="0" presId="urn:microsoft.com/office/officeart/2008/layout/VerticalCurvedList"/>
    <dgm:cxn modelId="{C8C6A232-D4BB-4EE5-B4C1-A3D18C019956}" type="presParOf" srcId="{9324455E-86D2-46DD-AF06-050846C59ED8}" destId="{6EE5C1A0-B088-40A5-AAC6-770F0F77F0C2}" srcOrd="0" destOrd="0" presId="urn:microsoft.com/office/officeart/2008/layout/VerticalCurvedList"/>
    <dgm:cxn modelId="{175AFE6A-5AE2-40C3-B17E-2D8C8615E72A}" type="presParOf" srcId="{90561C55-3C6E-4D53-85E1-2C50BCDDA392}" destId="{A0F6046D-AFD8-45FE-906D-88119476BC36}" srcOrd="3" destOrd="0" presId="urn:microsoft.com/office/officeart/2008/layout/VerticalCurvedList"/>
    <dgm:cxn modelId="{9C3D9F75-EE03-490A-8C7A-843871F375DE}" type="presParOf" srcId="{90561C55-3C6E-4D53-85E1-2C50BCDDA392}" destId="{579FED42-B462-4E32-A825-8B806077435B}" srcOrd="4" destOrd="0" presId="urn:microsoft.com/office/officeart/2008/layout/VerticalCurvedList"/>
    <dgm:cxn modelId="{1183DFC9-48A2-4457-A7D6-49E21E87994E}" type="presParOf" srcId="{579FED42-B462-4E32-A825-8B806077435B}" destId="{7B551D9A-A806-4865-914D-7FEAEC095F0A}" srcOrd="0" destOrd="0" presId="urn:microsoft.com/office/officeart/2008/layout/VerticalCurvedList"/>
    <dgm:cxn modelId="{6653F989-1D8A-4229-A54D-B4ED78017A5F}" type="presParOf" srcId="{90561C55-3C6E-4D53-85E1-2C50BCDDA392}" destId="{80AEF5D7-0E00-4056-B6A9-08106D6CFFDA}" srcOrd="5" destOrd="0" presId="urn:microsoft.com/office/officeart/2008/layout/VerticalCurvedList"/>
    <dgm:cxn modelId="{7D91B801-C0D7-49D3-BA82-6D3BF9241E89}" type="presParOf" srcId="{90561C55-3C6E-4D53-85E1-2C50BCDDA392}" destId="{97991A51-3DED-42D6-A950-B013FBD4B661}" srcOrd="6" destOrd="0" presId="urn:microsoft.com/office/officeart/2008/layout/VerticalCurvedList"/>
    <dgm:cxn modelId="{C671E97E-85AA-4EED-98A0-1F209474045A}" type="presParOf" srcId="{97991A51-3DED-42D6-A950-B013FBD4B661}" destId="{64F0D975-B6B3-4B7E-B1E4-E4B8C82D8F1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5390CC33-C771-4E5A-AB04-9E1FE7F2A093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 noProof="0" dirty="0"/>
            <a:t>Security</a:t>
          </a:r>
          <a:r>
            <a:rPr lang="en-US" noProof="0" dirty="0"/>
            <a:t>: Add TLS/SSL via reverse proxy (</a:t>
          </a:r>
          <a:r>
            <a:rPr lang="en-US" noProof="0" dirty="0" err="1"/>
            <a:t>Traefik</a:t>
          </a:r>
          <a:r>
            <a:rPr lang="en-US" noProof="0" dirty="0"/>
            <a:t>/Nginx)</a:t>
          </a:r>
          <a:endParaRPr lang="en-AE" dirty="0"/>
        </a:p>
      </dgm:t>
    </dgm:pt>
    <dgm:pt modelId="{36B927A5-92AF-410A-8E1A-8D001D6C33A4}" type="parTrans" cxnId="{F1BE7605-656D-4F89-8649-D673E24AC591}">
      <dgm:prSet/>
      <dgm:spPr/>
      <dgm:t>
        <a:bodyPr/>
        <a:lstStyle/>
        <a:p>
          <a:endParaRPr lang="en-AE"/>
        </a:p>
      </dgm:t>
    </dgm:pt>
    <dgm:pt modelId="{B6DCCF9A-E96F-47D3-855E-1AD8BFD6428B}" type="sibTrans" cxnId="{F1BE7605-656D-4F89-8649-D673E24AC591}">
      <dgm:prSet/>
      <dgm:spPr/>
      <dgm:t>
        <a:bodyPr/>
        <a:lstStyle/>
        <a:p>
          <a:endParaRPr lang="en-AE"/>
        </a:p>
      </dgm:t>
    </dgm:pt>
    <dgm:pt modelId="{60066941-ADF7-46AC-BB77-829344817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noProof="0" dirty="0"/>
            <a:t>Scalability</a:t>
          </a:r>
          <a:r>
            <a:rPr lang="en-US" noProof="0" dirty="0"/>
            <a:t>: PostgreSQL + Redis backend; horizontal scaling</a:t>
          </a:r>
          <a:endParaRPr lang="en-AE" dirty="0"/>
        </a:p>
      </dgm:t>
    </dgm:pt>
    <dgm:pt modelId="{82A29C17-6363-4B13-B433-125113FF67DB}" type="parTrans" cxnId="{43D9554E-A27B-461C-B768-D62A60D0A6E3}">
      <dgm:prSet/>
      <dgm:spPr/>
      <dgm:t>
        <a:bodyPr/>
        <a:lstStyle/>
        <a:p>
          <a:endParaRPr lang="en-AE"/>
        </a:p>
      </dgm:t>
    </dgm:pt>
    <dgm:pt modelId="{ED3D9CDF-0C93-47D6-91E3-D8CA30A9054C}" type="sibTrans" cxnId="{43D9554E-A27B-461C-B768-D62A60D0A6E3}">
      <dgm:prSet/>
      <dgm:spPr/>
      <dgm:t>
        <a:bodyPr/>
        <a:lstStyle/>
        <a:p>
          <a:endParaRPr lang="en-AE"/>
        </a:p>
      </dgm:t>
    </dgm:pt>
    <dgm:pt modelId="{EE76795C-D8FC-45DB-A9E9-969161C7C407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 noProof="0" dirty="0"/>
            <a:t>Cloud Deployment</a:t>
          </a:r>
          <a:r>
            <a:rPr lang="en-US" noProof="0" dirty="0"/>
            <a:t>: AWS EC2 + S3 with auto-scaling</a:t>
          </a:r>
        </a:p>
      </dgm:t>
    </dgm:pt>
    <dgm:pt modelId="{3289ADA1-D082-4F96-BED3-E69DCABE8F17}" type="parTrans" cxnId="{E6212324-0655-4C31-94E5-927BEA68C22E}">
      <dgm:prSet/>
      <dgm:spPr/>
      <dgm:t>
        <a:bodyPr/>
        <a:lstStyle/>
        <a:p>
          <a:endParaRPr lang="en-AE"/>
        </a:p>
      </dgm:t>
    </dgm:pt>
    <dgm:pt modelId="{7DD66562-CEE8-41C9-9051-A3297256834F}" type="sibTrans" cxnId="{E6212324-0655-4C31-94E5-927BEA68C22E}">
      <dgm:prSet/>
      <dgm:spPr/>
      <dgm:t>
        <a:bodyPr/>
        <a:lstStyle/>
        <a:p>
          <a:endParaRPr lang="en-AE"/>
        </a:p>
      </dgm:t>
    </dgm:pt>
    <dgm:pt modelId="{CE2A12AB-6F61-420D-872A-226B45838D46}">
      <dgm:prSet/>
      <dgm:spPr/>
      <dgm:t>
        <a:bodyPr/>
        <a:lstStyle/>
        <a:p>
          <a:r>
            <a:rPr lang="en-US" b="1" noProof="0" dirty="0"/>
            <a:t>Larger Scale Tests</a:t>
          </a:r>
          <a:r>
            <a:rPr lang="en-US" noProof="0" dirty="0"/>
            <a:t>: GB-sized files and 100+ concurrent users</a:t>
          </a:r>
          <a:endParaRPr lang="en-AE" dirty="0"/>
        </a:p>
      </dgm:t>
    </dgm:pt>
    <dgm:pt modelId="{4353D11A-DEE7-4F11-BBFE-8FEE346FA466}" type="parTrans" cxnId="{FEDE17C7-95C5-4448-A87D-C202DFDB469F}">
      <dgm:prSet/>
      <dgm:spPr/>
      <dgm:t>
        <a:bodyPr/>
        <a:lstStyle/>
        <a:p>
          <a:endParaRPr lang="en-AE"/>
        </a:p>
      </dgm:t>
    </dgm:pt>
    <dgm:pt modelId="{C815E91C-55A3-4946-8606-BEECDA60F076}" type="sibTrans" cxnId="{FEDE17C7-95C5-4448-A87D-C202DFDB469F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4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4"/>
      <dgm:spPr/>
    </dgm:pt>
    <dgm:pt modelId="{429CABD1-4116-474B-81BF-735E2CA9DD00}" type="pres">
      <dgm:prSet presAssocID="{7E5AA53B-3EEE-4DE4-BB81-9044890C2946}" presName="dstNode" presStyleLbl="node1" presStyleIdx="0" presStyleCnt="4"/>
      <dgm:spPr/>
    </dgm:pt>
    <dgm:pt modelId="{CAAE1CAD-FEEB-455A-8AA8-1FEFD6392743}" type="pres">
      <dgm:prSet presAssocID="{60066941-ADF7-46AC-BB77-829344817C60}" presName="text_1" presStyleLbl="node1" presStyleIdx="0" presStyleCnt="4">
        <dgm:presLayoutVars>
          <dgm:bulletEnabled val="1"/>
        </dgm:presLayoutVars>
      </dgm:prSet>
      <dgm:spPr/>
    </dgm:pt>
    <dgm:pt modelId="{C08B2188-0133-4A8E-9879-10886354A6AF}" type="pres">
      <dgm:prSet presAssocID="{60066941-ADF7-46AC-BB77-829344817C60}" presName="accent_1" presStyleCnt="0"/>
      <dgm:spPr/>
    </dgm:pt>
    <dgm:pt modelId="{C542BC0A-F34E-4ADB-B79F-8AD4D4154CF0}" type="pres">
      <dgm:prSet presAssocID="{60066941-ADF7-46AC-BB77-829344817C60}" presName="accentRepeatNode" presStyleLbl="solidFgAcc1" presStyleIdx="0" presStyleCnt="4"/>
      <dgm:spPr/>
    </dgm:pt>
    <dgm:pt modelId="{9202D32C-5E1E-4ED5-BBCE-92DD0F5913C5}" type="pres">
      <dgm:prSet presAssocID="{5390CC33-C771-4E5A-AB04-9E1FE7F2A093}" presName="text_2" presStyleLbl="node1" presStyleIdx="1" presStyleCnt="4">
        <dgm:presLayoutVars>
          <dgm:bulletEnabled val="1"/>
        </dgm:presLayoutVars>
      </dgm:prSet>
      <dgm:spPr/>
    </dgm:pt>
    <dgm:pt modelId="{FE2698CB-1FDE-4ED4-9B3E-CFE6AAEC3685}" type="pres">
      <dgm:prSet presAssocID="{5390CC33-C771-4E5A-AB04-9E1FE7F2A093}" presName="accent_2" presStyleCnt="0"/>
      <dgm:spPr/>
    </dgm:pt>
    <dgm:pt modelId="{9D56D71C-23CC-4B4A-A3D9-E94A6D6CC775}" type="pres">
      <dgm:prSet presAssocID="{5390CC33-C771-4E5A-AB04-9E1FE7F2A093}" presName="accentRepeatNode" presStyleLbl="solidFgAcc1" presStyleIdx="1" presStyleCnt="4"/>
      <dgm:spPr/>
    </dgm:pt>
    <dgm:pt modelId="{D9D205F9-D1FB-46DC-B47C-E1293E69F779}" type="pres">
      <dgm:prSet presAssocID="{EE76795C-D8FC-45DB-A9E9-969161C7C407}" presName="text_3" presStyleLbl="node1" presStyleIdx="2" presStyleCnt="4">
        <dgm:presLayoutVars>
          <dgm:bulletEnabled val="1"/>
        </dgm:presLayoutVars>
      </dgm:prSet>
      <dgm:spPr/>
    </dgm:pt>
    <dgm:pt modelId="{EC59806A-39ED-4C1F-90F7-3489C37C3C2E}" type="pres">
      <dgm:prSet presAssocID="{EE76795C-D8FC-45DB-A9E9-969161C7C407}" presName="accent_3" presStyleCnt="0"/>
      <dgm:spPr/>
    </dgm:pt>
    <dgm:pt modelId="{ECFAE4C2-0CA3-40BC-8B89-8079A892C089}" type="pres">
      <dgm:prSet presAssocID="{EE76795C-D8FC-45DB-A9E9-969161C7C407}" presName="accentRepeatNode" presStyleLbl="solidFgAcc1" presStyleIdx="2" presStyleCnt="4"/>
      <dgm:spPr/>
    </dgm:pt>
    <dgm:pt modelId="{9501262F-E8EC-45A9-8E6E-C28F92BFA19C}" type="pres">
      <dgm:prSet presAssocID="{CE2A12AB-6F61-420D-872A-226B45838D46}" presName="text_4" presStyleLbl="node1" presStyleIdx="3" presStyleCnt="4">
        <dgm:presLayoutVars>
          <dgm:bulletEnabled val="1"/>
        </dgm:presLayoutVars>
      </dgm:prSet>
      <dgm:spPr/>
    </dgm:pt>
    <dgm:pt modelId="{B2337FF6-F527-4020-8E86-EFE6ED96CE37}" type="pres">
      <dgm:prSet presAssocID="{CE2A12AB-6F61-420D-872A-226B45838D46}" presName="accent_4" presStyleCnt="0"/>
      <dgm:spPr/>
    </dgm:pt>
    <dgm:pt modelId="{276C042A-AA0C-4104-8403-1C05087FE0A2}" type="pres">
      <dgm:prSet presAssocID="{CE2A12AB-6F61-420D-872A-226B45838D46}" presName="accentRepeatNode" presStyleLbl="solidFgAcc1" presStyleIdx="3" presStyleCnt="4"/>
      <dgm:spPr/>
    </dgm:pt>
  </dgm:ptLst>
  <dgm:cxnLst>
    <dgm:cxn modelId="{F1BE7605-656D-4F89-8649-D673E24AC591}" srcId="{7E5AA53B-3EEE-4DE4-BB81-9044890C2946}" destId="{5390CC33-C771-4E5A-AB04-9E1FE7F2A093}" srcOrd="1" destOrd="0" parTransId="{36B927A5-92AF-410A-8E1A-8D001D6C33A4}" sibTransId="{B6DCCF9A-E96F-47D3-855E-1AD8BFD6428B}"/>
    <dgm:cxn modelId="{E6212324-0655-4C31-94E5-927BEA68C22E}" srcId="{7E5AA53B-3EEE-4DE4-BB81-9044890C2946}" destId="{EE76795C-D8FC-45DB-A9E9-969161C7C407}" srcOrd="2" destOrd="0" parTransId="{3289ADA1-D082-4F96-BED3-E69DCABE8F17}" sibTransId="{7DD66562-CEE8-41C9-9051-A3297256834F}"/>
    <dgm:cxn modelId="{34BA9633-85C7-4171-AE9E-F0CBF4E2A3FE}" type="presOf" srcId="{ED3D9CDF-0C93-47D6-91E3-D8CA30A9054C}" destId="{D79B43FC-100B-4A0D-A4D5-0D2D04B99064}" srcOrd="0" destOrd="0" presId="urn:microsoft.com/office/officeart/2008/layout/VerticalCurvedList"/>
    <dgm:cxn modelId="{43D9554E-A27B-461C-B768-D62A60D0A6E3}" srcId="{7E5AA53B-3EEE-4DE4-BB81-9044890C2946}" destId="{60066941-ADF7-46AC-BB77-829344817C60}" srcOrd="0" destOrd="0" parTransId="{82A29C17-6363-4B13-B433-125113FF67DB}" sibTransId="{ED3D9CDF-0C93-47D6-91E3-D8CA30A9054C}"/>
    <dgm:cxn modelId="{7CDC5A52-8F40-45EE-820F-8E1F8CCA05D2}" type="presOf" srcId="{EE76795C-D8FC-45DB-A9E9-969161C7C407}" destId="{D9D205F9-D1FB-46DC-B47C-E1293E69F779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FEDE17C7-95C5-4448-A87D-C202DFDB469F}" srcId="{7E5AA53B-3EEE-4DE4-BB81-9044890C2946}" destId="{CE2A12AB-6F61-420D-872A-226B45838D46}" srcOrd="3" destOrd="0" parTransId="{4353D11A-DEE7-4F11-BBFE-8FEE346FA466}" sibTransId="{C815E91C-55A3-4946-8606-BEECDA60F076}"/>
    <dgm:cxn modelId="{3D01C9E3-E331-4386-8D98-CDEA8968AB2A}" type="presOf" srcId="{CE2A12AB-6F61-420D-872A-226B45838D46}" destId="{9501262F-E8EC-45A9-8E6E-C28F92BFA19C}" srcOrd="0" destOrd="0" presId="urn:microsoft.com/office/officeart/2008/layout/VerticalCurvedList"/>
    <dgm:cxn modelId="{95B183E8-AF00-406F-8638-A6446243C89F}" type="presOf" srcId="{5390CC33-C771-4E5A-AB04-9E1FE7F2A093}" destId="{9202D32C-5E1E-4ED5-BBCE-92DD0F5913C5}" srcOrd="0" destOrd="0" presId="urn:microsoft.com/office/officeart/2008/layout/VerticalCurvedList"/>
    <dgm:cxn modelId="{D61215F7-1365-43E6-98F0-C23A67700EBF}" type="presOf" srcId="{60066941-ADF7-46AC-BB77-829344817C60}" destId="{CAAE1CAD-FEEB-455A-8AA8-1FEFD6392743}" srcOrd="0" destOrd="0" presId="urn:microsoft.com/office/officeart/2008/layout/VerticalCurvedList"/>
    <dgm:cxn modelId="{BC1D998B-32C3-46FE-B074-F52428BFB06B}" type="presParOf" srcId="{57806726-6E60-4ACC-9C1C-7DF9CC365A10}" destId="{90561C55-3C6E-4D53-85E1-2C50BCDDA392}" srcOrd="0" destOrd="0" presId="urn:microsoft.com/office/officeart/2008/layout/VerticalCurvedList"/>
    <dgm:cxn modelId="{DA8D95E9-0A96-45E7-A4F3-2FB0D3D291DD}" type="presParOf" srcId="{90561C55-3C6E-4D53-85E1-2C50BCDDA392}" destId="{B6CD42EC-5AD4-4004-AE5B-47EDA668DAA8}" srcOrd="0" destOrd="0" presId="urn:microsoft.com/office/officeart/2008/layout/VerticalCurvedList"/>
    <dgm:cxn modelId="{FAF2FF9D-3B91-4651-AC56-DAAA7859FE28}" type="presParOf" srcId="{B6CD42EC-5AD4-4004-AE5B-47EDA668DAA8}" destId="{963B8EE3-40CC-4A0A-B420-D0BF920973CE}" srcOrd="0" destOrd="0" presId="urn:microsoft.com/office/officeart/2008/layout/VerticalCurvedList"/>
    <dgm:cxn modelId="{BAAE8184-80AF-4B8B-8C47-D772C55AF3AA}" type="presParOf" srcId="{B6CD42EC-5AD4-4004-AE5B-47EDA668DAA8}" destId="{D79B43FC-100B-4A0D-A4D5-0D2D04B99064}" srcOrd="1" destOrd="0" presId="urn:microsoft.com/office/officeart/2008/layout/VerticalCurvedList"/>
    <dgm:cxn modelId="{F7C8FAA2-E8FA-447C-A78B-6B538986AF08}" type="presParOf" srcId="{B6CD42EC-5AD4-4004-AE5B-47EDA668DAA8}" destId="{3CAD8DA1-8D53-445C-ACE8-D8449E4F0F55}" srcOrd="2" destOrd="0" presId="urn:microsoft.com/office/officeart/2008/layout/VerticalCurvedList"/>
    <dgm:cxn modelId="{F4B4A055-D097-4CB4-893B-D919A9C907D1}" type="presParOf" srcId="{B6CD42EC-5AD4-4004-AE5B-47EDA668DAA8}" destId="{429CABD1-4116-474B-81BF-735E2CA9DD00}" srcOrd="3" destOrd="0" presId="urn:microsoft.com/office/officeart/2008/layout/VerticalCurvedList"/>
    <dgm:cxn modelId="{5593771D-AD16-4F8B-A94B-6AD56DA6720E}" type="presParOf" srcId="{90561C55-3C6E-4D53-85E1-2C50BCDDA392}" destId="{CAAE1CAD-FEEB-455A-8AA8-1FEFD6392743}" srcOrd="1" destOrd="0" presId="urn:microsoft.com/office/officeart/2008/layout/VerticalCurvedList"/>
    <dgm:cxn modelId="{57B9ED8F-0F88-4D82-A479-981FFC40AB31}" type="presParOf" srcId="{90561C55-3C6E-4D53-85E1-2C50BCDDA392}" destId="{C08B2188-0133-4A8E-9879-10886354A6AF}" srcOrd="2" destOrd="0" presId="urn:microsoft.com/office/officeart/2008/layout/VerticalCurvedList"/>
    <dgm:cxn modelId="{ED9D177C-5A4C-4E12-9264-FF8A5469E5FF}" type="presParOf" srcId="{C08B2188-0133-4A8E-9879-10886354A6AF}" destId="{C542BC0A-F34E-4ADB-B79F-8AD4D4154CF0}" srcOrd="0" destOrd="0" presId="urn:microsoft.com/office/officeart/2008/layout/VerticalCurvedList"/>
    <dgm:cxn modelId="{FF8AF9C9-C99E-4F67-B7B7-7DA52EB82238}" type="presParOf" srcId="{90561C55-3C6E-4D53-85E1-2C50BCDDA392}" destId="{9202D32C-5E1E-4ED5-BBCE-92DD0F5913C5}" srcOrd="3" destOrd="0" presId="urn:microsoft.com/office/officeart/2008/layout/VerticalCurvedList"/>
    <dgm:cxn modelId="{89409CED-2CD2-458D-B378-376B8142E332}" type="presParOf" srcId="{90561C55-3C6E-4D53-85E1-2C50BCDDA392}" destId="{FE2698CB-1FDE-4ED4-9B3E-CFE6AAEC3685}" srcOrd="4" destOrd="0" presId="urn:microsoft.com/office/officeart/2008/layout/VerticalCurvedList"/>
    <dgm:cxn modelId="{37FB8461-2FD4-408D-9A45-BAE761A268BE}" type="presParOf" srcId="{FE2698CB-1FDE-4ED4-9B3E-CFE6AAEC3685}" destId="{9D56D71C-23CC-4B4A-A3D9-E94A6D6CC775}" srcOrd="0" destOrd="0" presId="urn:microsoft.com/office/officeart/2008/layout/VerticalCurvedList"/>
    <dgm:cxn modelId="{AFD884EF-2E0C-4C3F-9CC4-0E41B4FDEB02}" type="presParOf" srcId="{90561C55-3C6E-4D53-85E1-2C50BCDDA392}" destId="{D9D205F9-D1FB-46DC-B47C-E1293E69F779}" srcOrd="5" destOrd="0" presId="urn:microsoft.com/office/officeart/2008/layout/VerticalCurvedList"/>
    <dgm:cxn modelId="{D3B3C486-314C-4FA0-A5A8-CFC5B8FC91BC}" type="presParOf" srcId="{90561C55-3C6E-4D53-85E1-2C50BCDDA392}" destId="{EC59806A-39ED-4C1F-90F7-3489C37C3C2E}" srcOrd="6" destOrd="0" presId="urn:microsoft.com/office/officeart/2008/layout/VerticalCurvedList"/>
    <dgm:cxn modelId="{D91CB6DD-7AFA-4BC5-8A9C-676EDA874CC6}" type="presParOf" srcId="{EC59806A-39ED-4C1F-90F7-3489C37C3C2E}" destId="{ECFAE4C2-0CA3-40BC-8B89-8079A892C089}" srcOrd="0" destOrd="0" presId="urn:microsoft.com/office/officeart/2008/layout/VerticalCurvedList"/>
    <dgm:cxn modelId="{D10BDA1B-44BA-491D-8AA5-44C22F6496BC}" type="presParOf" srcId="{90561C55-3C6E-4D53-85E1-2C50BCDDA392}" destId="{9501262F-E8EC-45A9-8E6E-C28F92BFA19C}" srcOrd="7" destOrd="0" presId="urn:microsoft.com/office/officeart/2008/layout/VerticalCurvedList"/>
    <dgm:cxn modelId="{2E5BA3BD-5668-43B3-B372-8D3CB4393433}" type="presParOf" srcId="{90561C55-3C6E-4D53-85E1-2C50BCDDA392}" destId="{B2337FF6-F527-4020-8E86-EFE6ED96CE37}" srcOrd="8" destOrd="0" presId="urn:microsoft.com/office/officeart/2008/layout/VerticalCurvedList"/>
    <dgm:cxn modelId="{984371BE-D373-4815-AF46-95356A1ED18B}" type="presParOf" srcId="{B2337FF6-F527-4020-8E86-EFE6ED96CE37}" destId="{276C042A-AA0C-4104-8403-1C05087FE0A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A7FD1892-0086-4791-821D-837675253F72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All </a:t>
          </a:r>
          <a:r>
            <a:rPr lang="en-US" b="1" dirty="0"/>
            <a:t>open-source</a:t>
          </a:r>
          <a:r>
            <a:rPr lang="en-US" dirty="0"/>
            <a:t> components (zero licensing)</a:t>
          </a:r>
          <a:endParaRPr lang="en-AE" dirty="0"/>
        </a:p>
      </dgm:t>
    </dgm:pt>
    <dgm:pt modelId="{2FDE83F0-0B2A-432B-9679-235DBC659B66}" type="parTrans" cxnId="{5DC31EAE-67D8-420C-BD37-8A4ED496A84B}">
      <dgm:prSet/>
      <dgm:spPr/>
      <dgm:t>
        <a:bodyPr/>
        <a:lstStyle/>
        <a:p>
          <a:endParaRPr lang="en-AE"/>
        </a:p>
      </dgm:t>
    </dgm:pt>
    <dgm:pt modelId="{2B5DED65-835C-4AC7-AF12-48A70CDD758B}" type="sibTrans" cxnId="{5DC31EAE-67D8-420C-BD37-8A4ED496A84B}">
      <dgm:prSet/>
      <dgm:spPr/>
      <dgm:t>
        <a:bodyPr/>
        <a:lstStyle/>
        <a:p>
          <a:endParaRPr lang="en-AE"/>
        </a:p>
      </dgm:t>
    </dgm:pt>
    <dgm:pt modelId="{545F0B75-2748-4A01-AD62-C6BA205709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Lightweight </a:t>
          </a:r>
          <a:r>
            <a:rPr lang="en-US" dirty="0"/>
            <a:t>containers optimize resource usage</a:t>
          </a:r>
          <a:endParaRPr lang="en-AE" dirty="0"/>
        </a:p>
      </dgm:t>
    </dgm:pt>
    <dgm:pt modelId="{EF52F250-E438-4A72-8A0E-DB70AB8B30F8}" type="parTrans" cxnId="{324436EB-F3C6-4641-BE78-D126230179B3}">
      <dgm:prSet/>
      <dgm:spPr/>
      <dgm:t>
        <a:bodyPr/>
        <a:lstStyle/>
        <a:p>
          <a:endParaRPr lang="en-AE"/>
        </a:p>
      </dgm:t>
    </dgm:pt>
    <dgm:pt modelId="{1E99D757-B24B-4592-9B15-BDCE3C0CA832}" type="sibTrans" cxnId="{324436EB-F3C6-4641-BE78-D126230179B3}">
      <dgm:prSet/>
      <dgm:spPr/>
      <dgm:t>
        <a:bodyPr/>
        <a:lstStyle/>
        <a:p>
          <a:endParaRPr lang="en-AE"/>
        </a:p>
      </dgm:t>
    </dgm:pt>
    <dgm:pt modelId="{ED94A6E3-62EE-4BB5-969D-AE7DB47BC86B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Cloud deployment would use spot instances for cost optimization</a:t>
          </a:r>
          <a:endParaRPr lang="en-AE" dirty="0"/>
        </a:p>
      </dgm:t>
    </dgm:pt>
    <dgm:pt modelId="{5F748960-310B-4361-A7C9-62B3F58FEC91}" type="parTrans" cxnId="{666D6380-7822-4832-9DC0-8625E9D4292F}">
      <dgm:prSet/>
      <dgm:spPr/>
      <dgm:t>
        <a:bodyPr/>
        <a:lstStyle/>
        <a:p>
          <a:endParaRPr lang="en-AE"/>
        </a:p>
      </dgm:t>
    </dgm:pt>
    <dgm:pt modelId="{7CB7A049-E945-4F6C-8E80-62CC98CE3B24}" type="sibTrans" cxnId="{666D6380-7822-4832-9DC0-8625E9D4292F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83516B62-D039-420A-BF20-55F09CFB0B12}" type="pres">
      <dgm:prSet presAssocID="{A7FD1892-0086-4791-821D-837675253F72}" presName="text_1" presStyleLbl="node1" presStyleIdx="0" presStyleCnt="3">
        <dgm:presLayoutVars>
          <dgm:bulletEnabled val="1"/>
        </dgm:presLayoutVars>
      </dgm:prSet>
      <dgm:spPr/>
    </dgm:pt>
    <dgm:pt modelId="{9C17FFF1-708B-40C5-9E62-8D0A84712B9B}" type="pres">
      <dgm:prSet presAssocID="{A7FD1892-0086-4791-821D-837675253F72}" presName="accent_1" presStyleCnt="0"/>
      <dgm:spPr/>
    </dgm:pt>
    <dgm:pt modelId="{9AFB5727-31E9-4EDF-A781-19F2257CA972}" type="pres">
      <dgm:prSet presAssocID="{A7FD1892-0086-4791-821D-837675253F72}" presName="accentRepeatNode" presStyleLbl="solidFgAcc1" presStyleIdx="0" presStyleCnt="3"/>
      <dgm:spPr/>
    </dgm:pt>
    <dgm:pt modelId="{2A117CBB-1BEB-401C-A254-3F972395C8AF}" type="pres">
      <dgm:prSet presAssocID="{545F0B75-2748-4A01-AD62-C6BA20570977}" presName="text_2" presStyleLbl="node1" presStyleIdx="1" presStyleCnt="3">
        <dgm:presLayoutVars>
          <dgm:bulletEnabled val="1"/>
        </dgm:presLayoutVars>
      </dgm:prSet>
      <dgm:spPr/>
    </dgm:pt>
    <dgm:pt modelId="{18DC636E-E36B-4D00-B78A-10E0A96BA64D}" type="pres">
      <dgm:prSet presAssocID="{545F0B75-2748-4A01-AD62-C6BA20570977}" presName="accent_2" presStyleCnt="0"/>
      <dgm:spPr/>
    </dgm:pt>
    <dgm:pt modelId="{A708CD26-59EA-45B8-AF74-DA8A24CAC7A0}" type="pres">
      <dgm:prSet presAssocID="{545F0B75-2748-4A01-AD62-C6BA20570977}" presName="accentRepeatNode" presStyleLbl="solidFgAcc1" presStyleIdx="1" presStyleCnt="3"/>
      <dgm:spPr/>
    </dgm:pt>
    <dgm:pt modelId="{BBB58227-DDA7-4EAE-8B98-38CA4E6BABDB}" type="pres">
      <dgm:prSet presAssocID="{ED94A6E3-62EE-4BB5-969D-AE7DB47BC86B}" presName="text_3" presStyleLbl="node1" presStyleIdx="2" presStyleCnt="3">
        <dgm:presLayoutVars>
          <dgm:bulletEnabled val="1"/>
        </dgm:presLayoutVars>
      </dgm:prSet>
      <dgm:spPr/>
    </dgm:pt>
    <dgm:pt modelId="{89F7D6A0-F8A1-4298-BBF9-D51748AD283C}" type="pres">
      <dgm:prSet presAssocID="{ED94A6E3-62EE-4BB5-969D-AE7DB47BC86B}" presName="accent_3" presStyleCnt="0"/>
      <dgm:spPr/>
    </dgm:pt>
    <dgm:pt modelId="{8AF9C771-F4B2-4D16-8CD3-65B5F1C7DB47}" type="pres">
      <dgm:prSet presAssocID="{ED94A6E3-62EE-4BB5-969D-AE7DB47BC86B}" presName="accentRepeatNode" presStyleLbl="solidFgAcc1" presStyleIdx="2" presStyleCnt="3"/>
      <dgm:spPr/>
    </dgm:pt>
  </dgm:ptLst>
  <dgm:cxnLst>
    <dgm:cxn modelId="{1856B834-511A-4724-A5E4-4177BE31EFF9}" type="presOf" srcId="{ED94A6E3-62EE-4BB5-969D-AE7DB47BC86B}" destId="{BBB58227-DDA7-4EAE-8B98-38CA4E6BABDB}" srcOrd="0" destOrd="0" presId="urn:microsoft.com/office/officeart/2008/layout/VerticalCurvedList"/>
    <dgm:cxn modelId="{D5D0885F-1C10-4326-B90D-A574B8B472A5}" type="presOf" srcId="{A7FD1892-0086-4791-821D-837675253F72}" destId="{83516B62-D039-420A-BF20-55F09CFB0B12}" srcOrd="0" destOrd="0" presId="urn:microsoft.com/office/officeart/2008/layout/VerticalCurvedList"/>
    <dgm:cxn modelId="{666D6380-7822-4832-9DC0-8625E9D4292F}" srcId="{7E5AA53B-3EEE-4DE4-BB81-9044890C2946}" destId="{ED94A6E3-62EE-4BB5-969D-AE7DB47BC86B}" srcOrd="2" destOrd="0" parTransId="{5F748960-310B-4361-A7C9-62B3F58FEC91}" sibTransId="{7CB7A049-E945-4F6C-8E80-62CC98CE3B24}"/>
    <dgm:cxn modelId="{2D5B5581-997E-410B-A91B-5B4FADB0CF29}" type="presOf" srcId="{2B5DED65-835C-4AC7-AF12-48A70CDD758B}" destId="{D79B43FC-100B-4A0D-A4D5-0D2D04B99064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5DC31EAE-67D8-420C-BD37-8A4ED496A84B}" srcId="{7E5AA53B-3EEE-4DE4-BB81-9044890C2946}" destId="{A7FD1892-0086-4791-821D-837675253F72}" srcOrd="0" destOrd="0" parTransId="{2FDE83F0-0B2A-432B-9679-235DBC659B66}" sibTransId="{2B5DED65-835C-4AC7-AF12-48A70CDD758B}"/>
    <dgm:cxn modelId="{D1CF64D0-A3A1-4770-B997-FABAC2050130}" type="presOf" srcId="{545F0B75-2748-4A01-AD62-C6BA20570977}" destId="{2A117CBB-1BEB-401C-A254-3F972395C8AF}" srcOrd="0" destOrd="0" presId="urn:microsoft.com/office/officeart/2008/layout/VerticalCurvedList"/>
    <dgm:cxn modelId="{324436EB-F3C6-4641-BE78-D126230179B3}" srcId="{7E5AA53B-3EEE-4DE4-BB81-9044890C2946}" destId="{545F0B75-2748-4A01-AD62-C6BA20570977}" srcOrd="1" destOrd="0" parTransId="{EF52F250-E438-4A72-8A0E-DB70AB8B30F8}" sibTransId="{1E99D757-B24B-4592-9B15-BDCE3C0CA832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4256AB03-5B5E-4806-883C-62D3A24FDB65}" type="presParOf" srcId="{90561C55-3C6E-4D53-85E1-2C50BCDDA392}" destId="{83516B62-D039-420A-BF20-55F09CFB0B12}" srcOrd="1" destOrd="0" presId="urn:microsoft.com/office/officeart/2008/layout/VerticalCurvedList"/>
    <dgm:cxn modelId="{0251638E-A295-48B7-8391-E4599A11CC37}" type="presParOf" srcId="{90561C55-3C6E-4D53-85E1-2C50BCDDA392}" destId="{9C17FFF1-708B-40C5-9E62-8D0A84712B9B}" srcOrd="2" destOrd="0" presId="urn:microsoft.com/office/officeart/2008/layout/VerticalCurvedList"/>
    <dgm:cxn modelId="{4A9774AB-0607-4116-8241-5BDFF649E1AC}" type="presParOf" srcId="{9C17FFF1-708B-40C5-9E62-8D0A84712B9B}" destId="{9AFB5727-31E9-4EDF-A781-19F2257CA972}" srcOrd="0" destOrd="0" presId="urn:microsoft.com/office/officeart/2008/layout/VerticalCurvedList"/>
    <dgm:cxn modelId="{26DA8D71-0BC4-435D-AF69-AFAECF4AFDCA}" type="presParOf" srcId="{90561C55-3C6E-4D53-85E1-2C50BCDDA392}" destId="{2A117CBB-1BEB-401C-A254-3F972395C8AF}" srcOrd="3" destOrd="0" presId="urn:microsoft.com/office/officeart/2008/layout/VerticalCurvedList"/>
    <dgm:cxn modelId="{D1B2112B-F093-4C66-B4F3-7FB0D3C4E231}" type="presParOf" srcId="{90561C55-3C6E-4D53-85E1-2C50BCDDA392}" destId="{18DC636E-E36B-4D00-B78A-10E0A96BA64D}" srcOrd="4" destOrd="0" presId="urn:microsoft.com/office/officeart/2008/layout/VerticalCurvedList"/>
    <dgm:cxn modelId="{8379597A-3554-4CDD-A32E-55F6B90B58AF}" type="presParOf" srcId="{18DC636E-E36B-4D00-B78A-10E0A96BA64D}" destId="{A708CD26-59EA-45B8-AF74-DA8A24CAC7A0}" srcOrd="0" destOrd="0" presId="urn:microsoft.com/office/officeart/2008/layout/VerticalCurvedList"/>
    <dgm:cxn modelId="{65B02797-CF7B-408E-A007-95A58A0FE750}" type="presParOf" srcId="{90561C55-3C6E-4D53-85E1-2C50BCDDA392}" destId="{BBB58227-DDA7-4EAE-8B98-38CA4E6BABDB}" srcOrd="5" destOrd="0" presId="urn:microsoft.com/office/officeart/2008/layout/VerticalCurvedList"/>
    <dgm:cxn modelId="{CFE297FE-A707-44BC-A10C-34F9F9F9175E}" type="presParOf" srcId="{90561C55-3C6E-4D53-85E1-2C50BCDDA392}" destId="{89F7D6A0-F8A1-4298-BBF9-D51748AD283C}" srcOrd="6" destOrd="0" presId="urn:microsoft.com/office/officeart/2008/layout/VerticalCurvedList"/>
    <dgm:cxn modelId="{67D1ABA5-F2AC-48B4-861D-B43DE93D693F}" type="presParOf" srcId="{89F7D6A0-F8A1-4298-BBF9-D51748AD283C}" destId="{8AF9C771-F4B2-4D16-8CD3-65B5F1C7DB4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04618" y="273995"/>
          <a:ext cx="6506578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rtlCol="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✓ </a:t>
          </a:r>
          <a:r>
            <a:rPr lang="en-US" sz="1800" b="1" kern="1200" noProof="0" dirty="0"/>
            <a:t>Fully containerized Nextcloud deployment</a:t>
          </a:r>
          <a:r>
            <a:rPr lang="en-US" sz="1800" kern="1200" noProof="0" dirty="0"/>
            <a:t>  </a:t>
          </a:r>
        </a:p>
      </dsp:txBody>
      <dsp:txXfrm>
        <a:off x="404618" y="273995"/>
        <a:ext cx="6506578" cy="548276"/>
      </dsp:txXfrm>
    </dsp:sp>
    <dsp:sp modelId="{07CB3071-D555-47DA-A36A-69EB91531FD8}">
      <dsp:nvSpPr>
        <dsp:cNvPr id="0" name=""/>
        <dsp:cNvSpPr/>
      </dsp:nvSpPr>
      <dsp:spPr>
        <a:xfrm>
          <a:off x="61946" y="20546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18958" y="1096552"/>
          <a:ext cx="6192239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✓ </a:t>
          </a:r>
          <a:r>
            <a:rPr lang="en-US" sz="1800" b="1" kern="1200" noProof="0" dirty="0"/>
            <a:t>Complete monitoring stack </a:t>
          </a:r>
          <a:r>
            <a:rPr lang="en-US" sz="1800" kern="1200" noProof="0" dirty="0"/>
            <a:t>(Prometheus + Grafana)  </a:t>
          </a:r>
        </a:p>
      </dsp:txBody>
      <dsp:txXfrm>
        <a:off x="718958" y="1096552"/>
        <a:ext cx="6192239" cy="548276"/>
      </dsp:txXfrm>
    </dsp:sp>
    <dsp:sp modelId="{3F8116AC-FAC3-4E95-9865-93CCFEB191B9}">
      <dsp:nvSpPr>
        <dsp:cNvPr id="0" name=""/>
        <dsp:cNvSpPr/>
      </dsp:nvSpPr>
      <dsp:spPr>
        <a:xfrm>
          <a:off x="376285" y="1028017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718958" y="1919109"/>
          <a:ext cx="6192239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rtlCol="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✓ Automated </a:t>
          </a:r>
          <a:r>
            <a:rPr lang="en-US" sz="1800" b="1" kern="1200" noProof="0" dirty="0"/>
            <a:t>load testing </a:t>
          </a:r>
          <a:r>
            <a:rPr lang="en-US" sz="1800" kern="1200" noProof="0" dirty="0"/>
            <a:t>with Locust  </a:t>
          </a:r>
        </a:p>
      </dsp:txBody>
      <dsp:txXfrm>
        <a:off x="718958" y="1919109"/>
        <a:ext cx="6192239" cy="548276"/>
      </dsp:txXfrm>
    </dsp:sp>
    <dsp:sp modelId="{A965097E-32F1-4AB8-8C4E-2814A7596B2F}">
      <dsp:nvSpPr>
        <dsp:cNvPr id="0" name=""/>
        <dsp:cNvSpPr/>
      </dsp:nvSpPr>
      <dsp:spPr>
        <a:xfrm>
          <a:off x="376285" y="1850574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698A59-4AF8-4F70-AD5F-EF019206496D}">
      <dsp:nvSpPr>
        <dsp:cNvPr id="0" name=""/>
        <dsp:cNvSpPr/>
      </dsp:nvSpPr>
      <dsp:spPr>
        <a:xfrm>
          <a:off x="404618" y="2741666"/>
          <a:ext cx="6506578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✓ Comprehensive </a:t>
          </a:r>
          <a:r>
            <a:rPr lang="en-US" sz="1800" b="1" kern="1200" noProof="0" dirty="0"/>
            <a:t>documentation</a:t>
          </a:r>
          <a:r>
            <a:rPr lang="en-US" sz="1800" kern="1200" noProof="0" dirty="0"/>
            <a:t> and </a:t>
          </a:r>
          <a:r>
            <a:rPr lang="en-US" sz="1800" b="1" kern="1200" noProof="0" dirty="0"/>
            <a:t>execution logs</a:t>
          </a:r>
          <a:endParaRPr lang="en-AE" sz="1800" b="1" kern="1200" dirty="0"/>
        </a:p>
      </dsp:txBody>
      <dsp:txXfrm>
        <a:off x="404618" y="2741666"/>
        <a:ext cx="6506578" cy="548276"/>
      </dsp:txXfrm>
    </dsp:sp>
    <dsp:sp modelId="{DEE4DF27-9FDB-45CF-9173-0B2727D01B22}">
      <dsp:nvSpPr>
        <dsp:cNvPr id="0" name=""/>
        <dsp:cNvSpPr/>
      </dsp:nvSpPr>
      <dsp:spPr>
        <a:xfrm>
          <a:off x="61946" y="267313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13D3F-FE13-426C-8D82-58E1308FBA67}">
      <dsp:nvSpPr>
        <dsp:cNvPr id="0" name=""/>
        <dsp:cNvSpPr/>
      </dsp:nvSpPr>
      <dsp:spPr>
        <a:xfrm>
          <a:off x="496568" y="356393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rtlCol="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Medium files (5MB): </a:t>
          </a:r>
          <a:br>
            <a:rPr lang="en-US" sz="2000" kern="1200" dirty="0"/>
          </a:br>
          <a:r>
            <a:rPr lang="en-US" sz="2000" kern="1200" dirty="0"/>
            <a:t>median response ~44–49 </a:t>
          </a:r>
          <a:r>
            <a:rPr lang="en-US" sz="2000" kern="1200" dirty="0" err="1"/>
            <a:t>ms</a:t>
          </a:r>
          <a:r>
            <a:rPr lang="en-US" sz="2000" kern="1200" dirty="0"/>
            <a:t> at 10 concurrent users </a:t>
          </a:r>
          <a:endParaRPr lang="en-AE" sz="2000" kern="1200" dirty="0"/>
        </a:p>
      </dsp:txBody>
      <dsp:txXfrm>
        <a:off x="496568" y="356393"/>
        <a:ext cx="6414629" cy="712787"/>
      </dsp:txXfrm>
    </dsp:sp>
    <dsp:sp modelId="{6EE5C1A0-B088-40A5-AAC6-770F0F77F0C2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6046D-AFD8-45FE-906D-88119476BC36}">
      <dsp:nvSpPr>
        <dsp:cNvPr id="0" name=""/>
        <dsp:cNvSpPr/>
      </dsp:nvSpPr>
      <dsp:spPr>
        <a:xfrm>
          <a:off x="755666" y="1425575"/>
          <a:ext cx="6155530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System </a:t>
          </a:r>
          <a:r>
            <a:rPr lang="en-US" sz="2000" b="1" kern="1200" noProof="0" dirty="0"/>
            <a:t>handles</a:t>
          </a:r>
          <a:r>
            <a:rPr lang="en-US" sz="2000" kern="1200" noProof="0" dirty="0"/>
            <a:t> </a:t>
          </a:r>
          <a:r>
            <a:rPr lang="en-US" sz="2000" b="1" kern="1200" noProof="0" dirty="0"/>
            <a:t>well </a:t>
          </a:r>
          <a:r>
            <a:rPr lang="en-US" sz="2000" kern="1200" noProof="0" dirty="0"/>
            <a:t>moderate concurrent load</a:t>
          </a:r>
          <a:endParaRPr lang="en-AE" sz="2000" kern="1200" dirty="0"/>
        </a:p>
      </dsp:txBody>
      <dsp:txXfrm>
        <a:off x="755666" y="1425575"/>
        <a:ext cx="6155530" cy="712787"/>
      </dsp:txXfrm>
    </dsp:sp>
    <dsp:sp modelId="{7B551D9A-A806-4865-914D-7FEAEC095F0A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EF5D7-0E00-4056-B6A9-08106D6CFFDA}">
      <dsp:nvSpPr>
        <dsp:cNvPr id="0" name=""/>
        <dsp:cNvSpPr/>
      </dsp:nvSpPr>
      <dsp:spPr>
        <a:xfrm>
          <a:off x="496568" y="2494756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Load testing </a:t>
          </a:r>
          <a:r>
            <a:rPr lang="en-US" sz="2000" kern="1200" noProof="0"/>
            <a:t>shows that performance </a:t>
          </a:r>
          <a:r>
            <a:rPr lang="en-US" sz="2000" kern="1200" noProof="0" dirty="0"/>
            <a:t>is consistent for any small number of users</a:t>
          </a:r>
          <a:endParaRPr lang="en-AE" sz="2000" kern="1200" dirty="0">
            <a:solidFill>
              <a:srgbClr val="FF0000"/>
            </a:solidFill>
          </a:endParaRPr>
        </a:p>
      </dsp:txBody>
      <dsp:txXfrm>
        <a:off x="496568" y="2494756"/>
        <a:ext cx="6414629" cy="712787"/>
      </dsp:txXfrm>
    </dsp:sp>
    <dsp:sp modelId="{64F0D975-B6B3-4B7E-B1E4-E4B8C82D8F15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AE1CAD-FEEB-455A-8AA8-1FEFD6392743}">
      <dsp:nvSpPr>
        <dsp:cNvPr id="0" name=""/>
        <dsp:cNvSpPr/>
      </dsp:nvSpPr>
      <dsp:spPr>
        <a:xfrm>
          <a:off x="404618" y="273995"/>
          <a:ext cx="6506578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Scalability</a:t>
          </a:r>
          <a:r>
            <a:rPr lang="en-US" sz="1800" kern="1200" noProof="0" dirty="0"/>
            <a:t>: PostgreSQL + Redis backend; horizontal scaling</a:t>
          </a:r>
          <a:endParaRPr lang="en-AE" sz="1800" kern="1200" dirty="0"/>
        </a:p>
      </dsp:txBody>
      <dsp:txXfrm>
        <a:off x="404618" y="273995"/>
        <a:ext cx="6506578" cy="548276"/>
      </dsp:txXfrm>
    </dsp:sp>
    <dsp:sp modelId="{C542BC0A-F34E-4ADB-B79F-8AD4D4154CF0}">
      <dsp:nvSpPr>
        <dsp:cNvPr id="0" name=""/>
        <dsp:cNvSpPr/>
      </dsp:nvSpPr>
      <dsp:spPr>
        <a:xfrm>
          <a:off x="61946" y="20546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2D32C-5E1E-4ED5-BBCE-92DD0F5913C5}">
      <dsp:nvSpPr>
        <dsp:cNvPr id="0" name=""/>
        <dsp:cNvSpPr/>
      </dsp:nvSpPr>
      <dsp:spPr>
        <a:xfrm>
          <a:off x="718958" y="1096552"/>
          <a:ext cx="6192239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Security</a:t>
          </a:r>
          <a:r>
            <a:rPr lang="en-US" sz="1800" kern="1200" noProof="0" dirty="0"/>
            <a:t>: Add TLS/SSL via reverse proxy (</a:t>
          </a:r>
          <a:r>
            <a:rPr lang="en-US" sz="1800" kern="1200" noProof="0" dirty="0" err="1"/>
            <a:t>Traefik</a:t>
          </a:r>
          <a:r>
            <a:rPr lang="en-US" sz="1800" kern="1200" noProof="0" dirty="0"/>
            <a:t>/Nginx)</a:t>
          </a:r>
          <a:endParaRPr lang="en-AE" sz="1800" kern="1200" dirty="0"/>
        </a:p>
      </dsp:txBody>
      <dsp:txXfrm>
        <a:off x="718958" y="1096552"/>
        <a:ext cx="6192239" cy="548276"/>
      </dsp:txXfrm>
    </dsp:sp>
    <dsp:sp modelId="{9D56D71C-23CC-4B4A-A3D9-E94A6D6CC775}">
      <dsp:nvSpPr>
        <dsp:cNvPr id="0" name=""/>
        <dsp:cNvSpPr/>
      </dsp:nvSpPr>
      <dsp:spPr>
        <a:xfrm>
          <a:off x="376285" y="1028017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D205F9-D1FB-46DC-B47C-E1293E69F779}">
      <dsp:nvSpPr>
        <dsp:cNvPr id="0" name=""/>
        <dsp:cNvSpPr/>
      </dsp:nvSpPr>
      <dsp:spPr>
        <a:xfrm>
          <a:off x="718958" y="1919109"/>
          <a:ext cx="6192239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Cloud Deployment</a:t>
          </a:r>
          <a:r>
            <a:rPr lang="en-US" sz="1800" kern="1200" noProof="0" dirty="0"/>
            <a:t>: AWS EC2 + S3 with auto-scaling</a:t>
          </a:r>
        </a:p>
      </dsp:txBody>
      <dsp:txXfrm>
        <a:off x="718958" y="1919109"/>
        <a:ext cx="6192239" cy="548276"/>
      </dsp:txXfrm>
    </dsp:sp>
    <dsp:sp modelId="{ECFAE4C2-0CA3-40BC-8B89-8079A892C089}">
      <dsp:nvSpPr>
        <dsp:cNvPr id="0" name=""/>
        <dsp:cNvSpPr/>
      </dsp:nvSpPr>
      <dsp:spPr>
        <a:xfrm>
          <a:off x="376285" y="1850574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01262F-E8EC-45A9-8E6E-C28F92BFA19C}">
      <dsp:nvSpPr>
        <dsp:cNvPr id="0" name=""/>
        <dsp:cNvSpPr/>
      </dsp:nvSpPr>
      <dsp:spPr>
        <a:xfrm>
          <a:off x="404618" y="2741666"/>
          <a:ext cx="6506578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Larger Scale Tests</a:t>
          </a:r>
          <a:r>
            <a:rPr lang="en-US" sz="1800" kern="1200" noProof="0" dirty="0"/>
            <a:t>: GB-sized files and 100+ concurrent users</a:t>
          </a:r>
          <a:endParaRPr lang="en-AE" sz="1800" kern="1200" dirty="0"/>
        </a:p>
      </dsp:txBody>
      <dsp:txXfrm>
        <a:off x="404618" y="2741666"/>
        <a:ext cx="6506578" cy="548276"/>
      </dsp:txXfrm>
    </dsp:sp>
    <dsp:sp modelId="{276C042A-AA0C-4104-8403-1C05087FE0A2}">
      <dsp:nvSpPr>
        <dsp:cNvPr id="0" name=""/>
        <dsp:cNvSpPr/>
      </dsp:nvSpPr>
      <dsp:spPr>
        <a:xfrm>
          <a:off x="61946" y="267313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516B62-D039-420A-BF20-55F09CFB0B12}">
      <dsp:nvSpPr>
        <dsp:cNvPr id="0" name=""/>
        <dsp:cNvSpPr/>
      </dsp:nvSpPr>
      <dsp:spPr>
        <a:xfrm>
          <a:off x="496568" y="356393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All </a:t>
          </a:r>
          <a:r>
            <a:rPr lang="en-US" sz="2000" b="1" kern="1200" dirty="0"/>
            <a:t>open-source</a:t>
          </a:r>
          <a:r>
            <a:rPr lang="en-US" sz="2000" kern="1200" dirty="0"/>
            <a:t> components (zero licensing)</a:t>
          </a:r>
          <a:endParaRPr lang="en-AE" sz="2000" kern="1200" dirty="0"/>
        </a:p>
      </dsp:txBody>
      <dsp:txXfrm>
        <a:off x="496568" y="356393"/>
        <a:ext cx="6414629" cy="712787"/>
      </dsp:txXfrm>
    </dsp:sp>
    <dsp:sp modelId="{9AFB5727-31E9-4EDF-A781-19F2257CA972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17CBB-1BEB-401C-A254-3F972395C8AF}">
      <dsp:nvSpPr>
        <dsp:cNvPr id="0" name=""/>
        <dsp:cNvSpPr/>
      </dsp:nvSpPr>
      <dsp:spPr>
        <a:xfrm>
          <a:off x="755666" y="1425575"/>
          <a:ext cx="6155530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Lightweight </a:t>
          </a:r>
          <a:r>
            <a:rPr lang="en-US" sz="2000" kern="1200" dirty="0"/>
            <a:t>containers optimize resource usage</a:t>
          </a:r>
          <a:endParaRPr lang="en-AE" sz="2000" kern="1200" dirty="0"/>
        </a:p>
      </dsp:txBody>
      <dsp:txXfrm>
        <a:off x="755666" y="1425575"/>
        <a:ext cx="6155530" cy="712787"/>
      </dsp:txXfrm>
    </dsp:sp>
    <dsp:sp modelId="{A708CD26-59EA-45B8-AF74-DA8A24CAC7A0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58227-DDA7-4EAE-8B98-38CA4E6BABDB}">
      <dsp:nvSpPr>
        <dsp:cNvPr id="0" name=""/>
        <dsp:cNvSpPr/>
      </dsp:nvSpPr>
      <dsp:spPr>
        <a:xfrm>
          <a:off x="496568" y="2494756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Cloud deployment would use spot instances for cost optimization</a:t>
          </a:r>
          <a:endParaRPr lang="en-AE" sz="2000" kern="1200" dirty="0"/>
        </a:p>
      </dsp:txBody>
      <dsp:txXfrm>
        <a:off x="496568" y="2494756"/>
        <a:ext cx="6414629" cy="712787"/>
      </dsp:txXfrm>
    </dsp:sp>
    <dsp:sp modelId="{8AF9C771-F4B2-4D16-8CD3-65B5F1C7DB47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FA3576-2E34-44A5-91FF-3C53AC3DA648}" type="datetime1">
              <a:rPr lang="it-IT" smtClean="0"/>
              <a:t>09/lug/2026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1FEC-DF32-4E90-A279-29D5C0BB0773}" type="datetime1">
              <a:rPr lang="it-IT" smtClean="0"/>
              <a:pPr/>
              <a:t>09/lug/2026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A6F0-06E6-D4D0-62E7-BE3E1D202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8CE97CF-6525-8C37-F89E-F318717C3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EF7376F-F4B6-80DF-7E79-5AF3DC94B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5E44A7-A91A-19B8-1887-BA1F6ACD4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7404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88234-E0C1-5558-2A8F-A81FDCA6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96A4806-0384-9DF5-0987-63CB28247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DB135A7-66DB-F485-9DE9-433CB48FA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33DFED-2C69-953B-EA1B-88B18D424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8478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0F1AC-D093-FB5A-3C03-48147D26E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66A0964-9C88-8B4B-A8EF-D6D67BB2C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992440-AF32-9573-D81F-F07EBD345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DC7ACB5-2331-7F7E-7E44-D3303CAA5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8699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7A23933-3F77-4C59-A775-45E2435C8368}" type="datetime1">
              <a:rPr lang="it-IT" noProof="0" smtClean="0"/>
              <a:t>09/lug/2026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3FB14C-AC96-42E5-BE0B-73EFAA1A7EA7}" type="datetime1">
              <a:rPr lang="it-IT" noProof="0" smtClean="0"/>
              <a:t>09/lug/2026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6327E91-20FF-43F1-A337-75953C73E7D7}" type="datetime1">
              <a:rPr lang="it-IT" noProof="0" smtClean="0"/>
              <a:t>09/lug/2026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DCB701-B7F2-4988-9CFB-241C1D412354}" type="datetime1">
              <a:rPr lang="it-IT" noProof="0" smtClean="0"/>
              <a:t>09/lug/2026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9B0459-76CC-4B94-A6C6-908B17D42BC8}" type="datetime1">
              <a:rPr lang="it-IT" noProof="0" smtClean="0"/>
              <a:t>09/lug/2026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D572E4-8572-44CF-B6FA-B15ECB2B0691}" type="datetime1">
              <a:rPr lang="it-IT" noProof="0" smtClean="0"/>
              <a:t>09/lug/2026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7" name="Rettango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Tito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266B29-8DDF-40ED-AC5D-ED73AC5A6521}" type="datetime1">
              <a:rPr lang="it-IT" noProof="0" smtClean="0"/>
              <a:t>09/lug/2026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CFC7787-2DFD-4221-B49C-354C37128239}" type="datetime1">
              <a:rPr lang="it-IT" noProof="0" smtClean="0"/>
              <a:t>09/lug/2026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F07A8F-C5D3-4128-B052-E864993A59CE}" type="datetime1">
              <a:rPr lang="it-IT" noProof="0" smtClean="0"/>
              <a:t>09/lug/2026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9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CE9F-4108-4829-8F23-DFA9C926965D}" type="datetime1">
              <a:rPr lang="it-IT" noProof="0" smtClean="0"/>
              <a:t>09/lug/2026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B59B6B-A2EF-4B30-AEF7-A3091D0F5449}" type="datetime1">
              <a:rPr lang="it-IT" noProof="0" smtClean="0"/>
              <a:t>09/lug/2026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6BACEF-F5E2-445B-BCCF-A68C06C41D7B}" type="datetime1">
              <a:rPr lang="it-IT" noProof="0" smtClean="0"/>
              <a:t>09/lug/2026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9" name="Rettango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0" name="Rettango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1" name="Rettango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tango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7" name="Immagine 6" descr="Connessioni digitali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2" name="Rettango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1999"/>
            <a:ext cx="10993549" cy="1818565"/>
          </a:xfrm>
        </p:spPr>
        <p:txBody>
          <a:bodyPr rtlCol="0">
            <a:noAutofit/>
          </a:bodyPr>
          <a:lstStyle/>
          <a:p>
            <a:r>
              <a:rPr lang="en-US" sz="6000" noProof="0" dirty="0">
                <a:solidFill>
                  <a:schemeClr val="bg1"/>
                </a:solidFill>
              </a:rPr>
              <a:t>Cloud-Based </a:t>
            </a:r>
            <a:br>
              <a:rPr lang="en-US" sz="6000" noProof="0" dirty="0">
                <a:solidFill>
                  <a:schemeClr val="bg1"/>
                </a:solidFill>
              </a:rPr>
            </a:br>
            <a:r>
              <a:rPr lang="en-US" sz="6000" noProof="0" dirty="0">
                <a:solidFill>
                  <a:schemeClr val="bg1"/>
                </a:solidFill>
              </a:rPr>
              <a:t>File Storage System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6330517"/>
            <a:ext cx="10993546" cy="407959"/>
          </a:xfrm>
        </p:spPr>
        <p:txBody>
          <a:bodyPr rtlCol="0">
            <a:normAutofit/>
          </a:bodyPr>
          <a:lstStyle/>
          <a:p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Omar Cusma fait - Cloud Computing Basic Course – 2023/2024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2708-1C09-1578-4668-30A2802B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0" dirty="0"/>
              <a:t>Project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105EA-096A-A26A-7359-FFB78AB0F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7035" y="2367303"/>
            <a:ext cx="1640817" cy="164081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F79B58-F792-98A2-FF9E-6D0A20BEC198}"/>
              </a:ext>
            </a:extLst>
          </p:cNvPr>
          <p:cNvSpPr/>
          <p:nvPr/>
        </p:nvSpPr>
        <p:spPr>
          <a:xfrm>
            <a:off x="408580" y="2220418"/>
            <a:ext cx="5016859" cy="1787702"/>
          </a:xfrm>
          <a:prstGeom prst="roundRect">
            <a:avLst/>
          </a:prstGeom>
          <a:gradFill flip="none" rotWithShape="1">
            <a:gsLst>
              <a:gs pos="0">
                <a:srgbClr val="299EFF">
                  <a:alpha val="86000"/>
                  <a:lumMod val="99000"/>
                </a:srgbClr>
              </a:gs>
              <a:gs pos="100000">
                <a:srgbClr val="006BC0"/>
              </a:gs>
            </a:gsLst>
            <a:lin ang="5400000" scaled="1"/>
            <a:tileRect/>
          </a:gradFill>
          <a:effectLst>
            <a:outerShdw blurRad="317500" dist="38100" dir="2700000" sx="106000" sy="106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Objective: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Deploy a self-hosted cloud storage platform with monitoring and performance testing capabilities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4033EC-0B61-0C65-3319-0880B2E07EA4}"/>
              </a:ext>
            </a:extLst>
          </p:cNvPr>
          <p:cNvSpPr/>
          <p:nvPr/>
        </p:nvSpPr>
        <p:spPr>
          <a:xfrm>
            <a:off x="5974079" y="4519080"/>
            <a:ext cx="5912397" cy="1920113"/>
          </a:xfrm>
          <a:prstGeom prst="roundRect">
            <a:avLst/>
          </a:prstGeom>
          <a:gradFill flip="none" rotWithShape="1">
            <a:gsLst>
              <a:gs pos="0">
                <a:srgbClr val="299EFF">
                  <a:alpha val="86000"/>
                  <a:lumMod val="99000"/>
                </a:srgbClr>
              </a:gs>
              <a:gs pos="100000">
                <a:srgbClr val="006BC0"/>
              </a:gs>
            </a:gsLst>
            <a:lin ang="5400000" scaled="1"/>
            <a:tileRect/>
          </a:gradFill>
          <a:effectLst>
            <a:outerShdw blurRad="317500" dist="38100" dir="2700000" sx="106000" sy="106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Key Components:</a:t>
            </a:r>
            <a:br>
              <a:rPr lang="en-US" dirty="0"/>
            </a:br>
            <a:r>
              <a:rPr lang="en-US" dirty="0"/>
              <a:t>- </a:t>
            </a:r>
            <a:r>
              <a:rPr lang="en-US" b="1" dirty="0" err="1"/>
              <a:t>Nextcloud</a:t>
            </a:r>
            <a:r>
              <a:rPr lang="en-US" dirty="0"/>
              <a:t>: File storage and user management</a:t>
            </a:r>
            <a:br>
              <a:rPr lang="en-US" dirty="0"/>
            </a:br>
            <a:r>
              <a:rPr lang="en-US" dirty="0"/>
              <a:t>- </a:t>
            </a:r>
            <a:r>
              <a:rPr lang="en-US" b="1" dirty="0"/>
              <a:t>Docker Compose</a:t>
            </a:r>
            <a:r>
              <a:rPr lang="en-US" dirty="0"/>
              <a:t>: Container orchestration</a:t>
            </a:r>
            <a:br>
              <a:rPr lang="en-US" dirty="0"/>
            </a:br>
            <a:r>
              <a:rPr lang="en-US" dirty="0"/>
              <a:t>- </a:t>
            </a:r>
            <a:r>
              <a:rPr lang="en-US" b="1" dirty="0"/>
              <a:t>Prometheus + Grafana</a:t>
            </a:r>
            <a:r>
              <a:rPr lang="en-US" dirty="0"/>
              <a:t>: Monitoring and visualization</a:t>
            </a:r>
            <a:br>
              <a:rPr lang="en-US" dirty="0"/>
            </a:br>
            <a:r>
              <a:rPr lang="en-US" dirty="0"/>
              <a:t>- </a:t>
            </a:r>
            <a:r>
              <a:rPr lang="en-US" b="1" dirty="0"/>
              <a:t>Locust</a:t>
            </a:r>
            <a:r>
              <a:rPr lang="en-US" dirty="0"/>
              <a:t>: Load testing and performance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970B82-396B-4133-93DC-1CAF3E364D6C}"/>
              </a:ext>
            </a:extLst>
          </p:cNvPr>
          <p:cNvSpPr/>
          <p:nvPr/>
        </p:nvSpPr>
        <p:spPr>
          <a:xfrm>
            <a:off x="405932" y="4519079"/>
            <a:ext cx="5019508" cy="1920113"/>
          </a:xfrm>
          <a:prstGeom prst="roundRect">
            <a:avLst/>
          </a:prstGeom>
          <a:gradFill flip="none" rotWithShape="1">
            <a:gsLst>
              <a:gs pos="0">
                <a:srgbClr val="299EFF">
                  <a:alpha val="86000"/>
                  <a:lumMod val="99000"/>
                </a:srgbClr>
              </a:gs>
              <a:gs pos="100000">
                <a:srgbClr val="006BC0"/>
              </a:gs>
            </a:gsLst>
            <a:lin ang="5400000" scaled="1"/>
            <a:tileRect/>
          </a:gradFill>
          <a:effectLst>
            <a:outerShdw blurRad="317500" dist="38100" dir="2700000" sx="106000" sy="106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Requirements Addressed: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✓</a:t>
            </a:r>
            <a:r>
              <a:rPr lang="en-US" dirty="0"/>
              <a:t> User authentication &amp; authorization  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✓</a:t>
            </a:r>
            <a:r>
              <a:rPr lang="en-US" dirty="0"/>
              <a:t> Private storage spaces  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✓</a:t>
            </a:r>
            <a:r>
              <a:rPr lang="en-US" dirty="0"/>
              <a:t> File operations (upload/download/delete)  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✓</a:t>
            </a:r>
            <a:r>
              <a:rPr lang="en-US" dirty="0"/>
              <a:t> Scalability, security, and cost-efficiency</a:t>
            </a:r>
          </a:p>
        </p:txBody>
      </p:sp>
    </p:spTree>
    <p:extLst>
      <p:ext uri="{BB962C8B-B14F-4D97-AF65-F5344CB8AC3E}">
        <p14:creationId xmlns:p14="http://schemas.microsoft.com/office/powerpoint/2010/main" val="235718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6F09-6CBB-BFCF-332D-0F22ACBF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n-US" sz="3200" noProof="0" dirty="0"/>
              <a:t>System Architecture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B46EE9-7E06-659A-3BA1-908DB4ED3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2185445"/>
            <a:ext cx="102965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8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A5D341-334F-CC82-F87A-13F76F69D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03592" y="0"/>
            <a:ext cx="1390194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B9A7C8-1ADE-4AEC-D4CB-756A95C44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7199" y="934588"/>
            <a:ext cx="3964674" cy="1482582"/>
          </a:xfrm>
        </p:spPr>
        <p:txBody>
          <a:bodyPr>
            <a:normAutofit/>
          </a:bodyPr>
          <a:lstStyle/>
          <a:p>
            <a:r>
              <a:rPr lang="en-US" sz="4000" noProof="0" dirty="0"/>
              <a:t>Nextcloud </a:t>
            </a:r>
            <a:br>
              <a:rPr lang="en-US" sz="4000" noProof="0" dirty="0"/>
            </a:br>
            <a:r>
              <a:rPr lang="en-US" sz="4000" noProof="0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602D7-9258-091B-B93C-3CD2957AA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900" y="1057418"/>
            <a:ext cx="4451350" cy="56769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ECF4F7"/>
                </a:solidFill>
              </a:rPr>
              <a:t>Admin Capabilities</a:t>
            </a:r>
            <a:r>
              <a:rPr lang="en-US" sz="2000" b="1" dirty="0">
                <a:solidFill>
                  <a:srgbClr val="ECF4F7"/>
                </a:solidFill>
              </a:rPr>
              <a:t>:</a:t>
            </a:r>
            <a:br>
              <a:rPr lang="en-US" sz="2000" noProof="0" dirty="0">
                <a:solidFill>
                  <a:srgbClr val="ECF4F7"/>
                </a:solidFill>
              </a:rPr>
            </a:br>
            <a:r>
              <a:rPr lang="en-US" sz="2000" noProof="0" dirty="0">
                <a:solidFill>
                  <a:srgbClr val="ECF4F7"/>
                </a:solidFill>
              </a:rPr>
              <a:t>- ✓ User account creation and management</a:t>
            </a:r>
            <a:br>
              <a:rPr lang="en-US" sz="2000" noProof="0" dirty="0">
                <a:solidFill>
                  <a:srgbClr val="ECF4F7"/>
                </a:solidFill>
              </a:rPr>
            </a:br>
            <a:r>
              <a:rPr lang="en-US" sz="2000" noProof="0" dirty="0">
                <a:solidFill>
                  <a:srgbClr val="ECF4F7"/>
                </a:solidFill>
              </a:rPr>
              <a:t>- ✓ Private storage allocation per user (`/</a:t>
            </a:r>
            <a:r>
              <a:rPr lang="en-US" sz="2000" noProof="0" dirty="0" err="1">
                <a:solidFill>
                  <a:srgbClr val="ECF4F7"/>
                </a:solidFill>
              </a:rPr>
              <a:t>remote.php</a:t>
            </a:r>
            <a:r>
              <a:rPr lang="en-US" sz="2000" noProof="0" dirty="0">
                <a:solidFill>
                  <a:srgbClr val="ECF4F7"/>
                </a:solidFill>
              </a:rPr>
              <a:t>/</a:t>
            </a:r>
            <a:r>
              <a:rPr lang="en-US" sz="2000" noProof="0" dirty="0" err="1">
                <a:solidFill>
                  <a:srgbClr val="ECF4F7"/>
                </a:solidFill>
              </a:rPr>
              <a:t>dav</a:t>
            </a:r>
            <a:r>
              <a:rPr lang="en-US" sz="2000" noProof="0" dirty="0">
                <a:solidFill>
                  <a:srgbClr val="ECF4F7"/>
                </a:solidFill>
              </a:rPr>
              <a:t>/files/username/`)</a:t>
            </a:r>
            <a:br>
              <a:rPr lang="en-US" sz="2000" noProof="0" dirty="0">
                <a:solidFill>
                  <a:srgbClr val="ECF4F7"/>
                </a:solidFill>
              </a:rPr>
            </a:br>
            <a:r>
              <a:rPr lang="en-US" sz="2000" noProof="0" dirty="0">
                <a:solidFill>
                  <a:srgbClr val="ECF4F7"/>
                </a:solidFill>
              </a:rPr>
              <a:t>- ✓ Group management and permissions</a:t>
            </a:r>
            <a:br>
              <a:rPr lang="en-US" sz="2000" noProof="0" dirty="0">
                <a:solidFill>
                  <a:srgbClr val="ECF4F7"/>
                </a:solidFill>
              </a:rPr>
            </a:br>
            <a:r>
              <a:rPr lang="en-US" sz="2000" noProof="0" dirty="0">
                <a:solidFill>
                  <a:srgbClr val="ECF4F7"/>
                </a:solidFill>
              </a:rPr>
              <a:t>- ✓ System configuration and security settings</a:t>
            </a:r>
            <a:br>
              <a:rPr lang="en-US" sz="2000" noProof="0" dirty="0"/>
            </a:br>
            <a:endParaRPr lang="en-US" sz="2000" noProof="0" dirty="0"/>
          </a:p>
          <a:p>
            <a:pPr marL="0" indent="0">
              <a:buNone/>
            </a:pPr>
            <a:endParaRPr lang="en-US" sz="2000" noProof="0" dirty="0"/>
          </a:p>
          <a:p>
            <a:pPr marL="0" indent="0">
              <a:buNone/>
            </a:pPr>
            <a:br>
              <a:rPr lang="en-US" sz="2000" noProof="0" dirty="0"/>
            </a:br>
            <a:r>
              <a:rPr lang="en-US" sz="2000" b="1" noProof="0" dirty="0">
                <a:solidFill>
                  <a:srgbClr val="00679E"/>
                </a:solidFill>
              </a:rPr>
              <a:t>User Capabilities:</a:t>
            </a:r>
            <a:br>
              <a:rPr lang="en-US" sz="2000" b="1" noProof="0" dirty="0">
                <a:solidFill>
                  <a:srgbClr val="00679E"/>
                </a:solidFill>
              </a:rPr>
            </a:br>
            <a:r>
              <a:rPr lang="en-US" sz="2000" noProof="0" dirty="0">
                <a:solidFill>
                  <a:srgbClr val="00679E"/>
                </a:solidFill>
              </a:rPr>
              <a:t>- ✓ Upload/download/delete files</a:t>
            </a:r>
            <a:br>
              <a:rPr lang="en-US" sz="2000" noProof="0" dirty="0">
                <a:solidFill>
                  <a:srgbClr val="00679E"/>
                </a:solidFill>
              </a:rPr>
            </a:br>
            <a:r>
              <a:rPr lang="en-US" sz="2000" dirty="0">
                <a:solidFill>
                  <a:srgbClr val="00679E"/>
                </a:solidFill>
              </a:rPr>
              <a:t>- ✓ Sign-up, log out</a:t>
            </a:r>
            <a:br>
              <a:rPr lang="en-US" sz="2000" noProof="0" dirty="0">
                <a:solidFill>
                  <a:srgbClr val="00679E"/>
                </a:solidFill>
              </a:rPr>
            </a:br>
            <a:r>
              <a:rPr lang="en-US" sz="2000" noProof="0" dirty="0">
                <a:solidFill>
                  <a:srgbClr val="00679E"/>
                </a:solidFill>
              </a:rPr>
              <a:t>- ✓ File preview (images, PDFs, text)</a:t>
            </a:r>
            <a:br>
              <a:rPr lang="en-US" sz="2000" noProof="0" dirty="0">
                <a:solidFill>
                  <a:srgbClr val="00679E"/>
                </a:solidFill>
              </a:rPr>
            </a:br>
            <a:r>
              <a:rPr lang="en-US" sz="2000" noProof="0" dirty="0">
                <a:solidFill>
                  <a:srgbClr val="00679E"/>
                </a:solidFill>
              </a:rPr>
              <a:t>- ✓ Folder creation and organization</a:t>
            </a:r>
            <a:br>
              <a:rPr lang="en-US" sz="2000" noProof="0" dirty="0">
                <a:solidFill>
                  <a:srgbClr val="00679E"/>
                </a:solidFill>
              </a:rPr>
            </a:br>
            <a:r>
              <a:rPr lang="en-US" sz="2000" noProof="0" dirty="0">
                <a:solidFill>
                  <a:srgbClr val="00679E"/>
                </a:solidFill>
              </a:rPr>
              <a:t>- ✓ Web interface and desktop sync</a:t>
            </a:r>
            <a:br>
              <a:rPr lang="en-US" sz="2000" noProof="0" dirty="0">
                <a:solidFill>
                  <a:srgbClr val="00679E"/>
                </a:solidFill>
              </a:rPr>
            </a:br>
            <a:endParaRPr lang="en-US" sz="2000" noProof="0" dirty="0">
              <a:solidFill>
                <a:srgbClr val="00679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28823-B143-A1E6-C058-DA8503C3071F}"/>
              </a:ext>
            </a:extLst>
          </p:cNvPr>
          <p:cNvSpPr txBox="1"/>
          <p:nvPr/>
        </p:nvSpPr>
        <p:spPr>
          <a:xfrm>
            <a:off x="-1576316" y="6415156"/>
            <a:ext cx="5602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log in, visit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http://localhost:8080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</a:t>
            </a:r>
            <a:endParaRPr lang="en-AE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276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99D31-DD53-D359-2DE7-EA73C3C5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0" dirty="0"/>
              <a:t>Monitoring Stack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E1C7A4B-EA75-AA13-BFB7-774E700592A3}"/>
              </a:ext>
            </a:extLst>
          </p:cNvPr>
          <p:cNvGrpSpPr/>
          <p:nvPr/>
        </p:nvGrpSpPr>
        <p:grpSpPr>
          <a:xfrm>
            <a:off x="2493012" y="3825578"/>
            <a:ext cx="7118755" cy="1200329"/>
            <a:chOff x="2413502" y="3825578"/>
            <a:chExt cx="7118755" cy="12003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365609-8F4F-7B08-8553-D8389A15772E}"/>
                </a:ext>
              </a:extLst>
            </p:cNvPr>
            <p:cNvSpPr txBox="1"/>
            <p:nvPr/>
          </p:nvSpPr>
          <p:spPr>
            <a:xfrm>
              <a:off x="4125685" y="3825578"/>
              <a:ext cx="54065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Prometheus</a:t>
              </a:r>
              <a:br>
                <a:rPr lang="en-US" b="1" dirty="0"/>
              </a:br>
              <a:r>
                <a:rPr lang="en-US" dirty="0"/>
                <a:t>- Time-series database</a:t>
              </a:r>
              <a:br>
                <a:rPr lang="en-US" dirty="0"/>
              </a:br>
              <a:r>
                <a:rPr lang="en-US" dirty="0"/>
                <a:t>- Scrape interval: 30 seconds</a:t>
              </a:r>
              <a:br>
                <a:rPr lang="en-US" dirty="0"/>
              </a:br>
              <a:r>
                <a:rPr lang="en-US" dirty="0"/>
                <a:t>- Configuration: `</a:t>
              </a:r>
              <a:r>
                <a:rPr lang="en-US" dirty="0" err="1"/>
                <a:t>prometheus</a:t>
              </a:r>
              <a:r>
                <a:rPr lang="en-US" dirty="0"/>
                <a:t>/</a:t>
              </a:r>
              <a:r>
                <a:rPr lang="en-US" dirty="0" err="1"/>
                <a:t>prometheus.yml</a:t>
              </a:r>
              <a:r>
                <a:rPr lang="en-US" dirty="0"/>
                <a:t>`</a:t>
              </a:r>
              <a:endParaRPr lang="en-AE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02E4603-A237-8594-5F0B-69B9787DAAAC}"/>
                </a:ext>
              </a:extLst>
            </p:cNvPr>
            <p:cNvGrpSpPr/>
            <p:nvPr/>
          </p:nvGrpSpPr>
          <p:grpSpPr>
            <a:xfrm>
              <a:off x="2413502" y="3883707"/>
              <a:ext cx="1555852" cy="1084070"/>
              <a:chOff x="2413502" y="3883707"/>
              <a:chExt cx="1555852" cy="108407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88D8EDF-F6D0-8B0D-79B9-8F346E855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13502" y="3883707"/>
                <a:ext cx="1098653" cy="1084070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0C7399E-F56C-D329-B6FB-4ACAAF78E34F}"/>
                  </a:ext>
                </a:extLst>
              </p:cNvPr>
              <p:cNvSpPr/>
              <p:nvPr/>
            </p:nvSpPr>
            <p:spPr>
              <a:xfrm>
                <a:off x="3875314" y="3922528"/>
                <a:ext cx="94040" cy="1013800"/>
              </a:xfrm>
              <a:prstGeom prst="rect">
                <a:avLst/>
              </a:prstGeom>
              <a:solidFill>
                <a:srgbClr val="E652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3B19C4-537C-1B8F-393C-9890B10EABD5}"/>
              </a:ext>
            </a:extLst>
          </p:cNvPr>
          <p:cNvGrpSpPr/>
          <p:nvPr/>
        </p:nvGrpSpPr>
        <p:grpSpPr>
          <a:xfrm>
            <a:off x="2068583" y="5291823"/>
            <a:ext cx="7575538" cy="1258459"/>
            <a:chOff x="1989073" y="5291823"/>
            <a:chExt cx="7575538" cy="125845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87156E-CAE3-A33F-6774-725E38B0A813}"/>
                </a:ext>
              </a:extLst>
            </p:cNvPr>
            <p:cNvSpPr txBox="1"/>
            <p:nvPr/>
          </p:nvSpPr>
          <p:spPr>
            <a:xfrm>
              <a:off x="3773411" y="5349953"/>
              <a:ext cx="5791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Grafana</a:t>
              </a:r>
              <a:br>
                <a:rPr lang="en-US" b="1" dirty="0"/>
              </a:br>
              <a:r>
                <a:rPr lang="en-US" dirty="0"/>
                <a:t>- Auto-provisioned Prometheus </a:t>
              </a:r>
              <a:r>
                <a:rPr lang="en-US" dirty="0" err="1"/>
                <a:t>datasource</a:t>
              </a:r>
              <a:br>
                <a:rPr lang="en-US" dirty="0"/>
              </a:br>
              <a:r>
                <a:rPr lang="en-US" dirty="0"/>
                <a:t>- Custom dashboards for real-time monitoring</a:t>
              </a:r>
              <a:br>
                <a:rPr lang="en-US" dirty="0"/>
              </a:br>
              <a:r>
                <a:rPr lang="en-US" dirty="0"/>
                <a:t>- Access: `</a:t>
              </a:r>
              <a:r>
                <a:rPr lang="en-US" i="1" dirty="0"/>
                <a:t>http://localhost:3000</a:t>
              </a:r>
              <a:r>
                <a:rPr lang="en-US" dirty="0"/>
                <a:t>`</a:t>
              </a:r>
              <a:endParaRPr lang="en-AE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64C92AB-2527-57CA-3E67-C5AB250EA89F}"/>
                </a:ext>
              </a:extLst>
            </p:cNvPr>
            <p:cNvGrpSpPr/>
            <p:nvPr/>
          </p:nvGrpSpPr>
          <p:grpSpPr>
            <a:xfrm>
              <a:off x="1989073" y="5291823"/>
              <a:ext cx="1690298" cy="1229070"/>
              <a:chOff x="1989073" y="5291823"/>
              <a:chExt cx="1690298" cy="122907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91CBB7B-BC80-5B0D-56B2-7E818B7A55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9073" y="5291823"/>
                <a:ext cx="1181679" cy="1229070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F1922F6-0502-0275-1DC4-8D4E7427BBF5}"/>
                  </a:ext>
                </a:extLst>
              </p:cNvPr>
              <p:cNvSpPr/>
              <p:nvPr/>
            </p:nvSpPr>
            <p:spPr>
              <a:xfrm>
                <a:off x="3585331" y="5447980"/>
                <a:ext cx="94040" cy="1013800"/>
              </a:xfrm>
              <a:prstGeom prst="rect">
                <a:avLst/>
              </a:prstGeom>
              <a:gradFill flip="none" rotWithShape="1">
                <a:gsLst>
                  <a:gs pos="0">
                    <a:srgbClr val="F05A28"/>
                  </a:gs>
                  <a:gs pos="100000">
                    <a:srgbClr val="FAC40C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 dirty="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18F77EE-1377-8AD1-2E45-FF51B00D9F22}"/>
              </a:ext>
            </a:extLst>
          </p:cNvPr>
          <p:cNvGrpSpPr/>
          <p:nvPr/>
        </p:nvGrpSpPr>
        <p:grpSpPr>
          <a:xfrm>
            <a:off x="1770427" y="2345353"/>
            <a:ext cx="7576154" cy="1214308"/>
            <a:chOff x="1690917" y="2345353"/>
            <a:chExt cx="7576154" cy="121430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B153EF5-8973-1168-99C0-B083505C370A}"/>
                </a:ext>
              </a:extLst>
            </p:cNvPr>
            <p:cNvGrpSpPr/>
            <p:nvPr/>
          </p:nvGrpSpPr>
          <p:grpSpPr>
            <a:xfrm>
              <a:off x="1690917" y="2411641"/>
              <a:ext cx="1973639" cy="1148020"/>
              <a:chOff x="1690917" y="2411641"/>
              <a:chExt cx="1973639" cy="1148020"/>
            </a:xfrm>
          </p:grpSpPr>
          <p:pic>
            <p:nvPicPr>
              <p:cNvPr id="7" name="Content Placeholder 10">
                <a:extLst>
                  <a:ext uri="{FF2B5EF4-FFF2-40B4-BE49-F238E27FC236}">
                    <a16:creationId xmlns:a16="http://schemas.microsoft.com/office/drawing/2014/main" id="{2953712B-2822-4D59-2B29-964BE9FB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0917" y="2414435"/>
                <a:ext cx="1632556" cy="1145226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CF5F286-0F97-04ED-605E-A67400072064}"/>
                  </a:ext>
                </a:extLst>
              </p:cNvPr>
              <p:cNvSpPr/>
              <p:nvPr/>
            </p:nvSpPr>
            <p:spPr>
              <a:xfrm>
                <a:off x="3570516" y="2411641"/>
                <a:ext cx="94040" cy="1013800"/>
              </a:xfrm>
              <a:prstGeom prst="rect">
                <a:avLst/>
              </a:prstGeom>
              <a:solidFill>
                <a:srgbClr val="0082C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E30F77-4A05-3487-33CB-B4DB0992BC79}"/>
                </a:ext>
              </a:extLst>
            </p:cNvPr>
            <p:cNvSpPr txBox="1"/>
            <p:nvPr/>
          </p:nvSpPr>
          <p:spPr>
            <a:xfrm>
              <a:off x="3860499" y="2345353"/>
              <a:ext cx="54065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Nextcloud Exporter</a:t>
              </a:r>
              <a:br>
                <a:rPr lang="en-US" b="1" dirty="0"/>
              </a:br>
              <a:r>
                <a:rPr lang="en-US" dirty="0"/>
                <a:t>- Scrapes Nextcloud internal metrics</a:t>
              </a:r>
              <a:br>
                <a:rPr lang="en-US" dirty="0"/>
              </a:br>
              <a:r>
                <a:rPr lang="en-US" dirty="0"/>
                <a:t>- Exposes data at `</a:t>
              </a:r>
              <a:r>
                <a:rPr lang="en-US" i="1" dirty="0"/>
                <a:t>http://localhost:9205/metrics</a:t>
              </a:r>
              <a:r>
                <a:rPr lang="en-US" dirty="0"/>
                <a:t>`</a:t>
              </a:r>
              <a:br>
                <a:rPr lang="en-US" dirty="0"/>
              </a:br>
              <a:r>
                <a:rPr lang="en-US" dirty="0"/>
                <a:t>- Key metrics: active users, file count, response times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826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2DD9-0427-CA16-1252-3D19FB221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E" sz="3600" dirty="0"/>
              <a:t>Load-testing results: 500kB - 5MB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156350-4B3C-DD05-8AF0-D4E5E2D27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092790"/>
            <a:ext cx="6096000" cy="47625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314880-48DE-093E-C49A-BC9824858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8147"/>
            <a:ext cx="6096000" cy="4759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72BE31-E136-6B0D-89B4-2BC201761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73" y="682745"/>
            <a:ext cx="1012035" cy="105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584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ADCA-AB4F-71B6-5D6E-1CAE0CED3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E" sz="3600" dirty="0"/>
              <a:t>Load-testing results: 50MB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99F706-0992-F8EB-5B90-5BC384188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1" y="2095500"/>
            <a:ext cx="6096000" cy="4755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36AEAA-A32B-696C-66AB-A1950B60C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5500"/>
            <a:ext cx="6096000" cy="476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EF3693-B44A-2F50-0014-6C992CBDC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73" y="682745"/>
            <a:ext cx="1012035" cy="105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463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4D0A-BF35-AABD-1382-1358DC9DC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sz="3200" dirty="0"/>
              <a:t>Challenges &amp; Solutions</a:t>
            </a:r>
            <a:endParaRPr lang="en-AE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BD7B9-791E-ECCB-F67F-95D1B322E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028037" cy="3763364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Nextcloud Exporter</a:t>
            </a:r>
            <a:r>
              <a:rPr lang="en-US" dirty="0"/>
              <a:t> was unable to pull metrics from Nextcloud. </a:t>
            </a:r>
          </a:p>
          <a:p>
            <a:pPr lvl="1"/>
            <a:r>
              <a:rPr lang="en-US" sz="1800" dirty="0"/>
              <a:t>Nextcloud was blocking the exporter because it was scraping too frequently. </a:t>
            </a:r>
          </a:p>
          <a:p>
            <a:pPr lvl="1"/>
            <a:r>
              <a:rPr lang="en-US" sz="1800" dirty="0"/>
              <a:t>This resulted in: </a:t>
            </a:r>
            <a:r>
              <a:rPr lang="en-US" sz="1800" dirty="0" err="1"/>
              <a:t>nextcloud_up</a:t>
            </a:r>
            <a:r>
              <a:rPr lang="en-US" sz="1800" dirty="0"/>
              <a:t> = 0</a:t>
            </a:r>
          </a:p>
          <a:p>
            <a:r>
              <a:rPr lang="en-AE" dirty="0"/>
              <a:t>WSL files from the </a:t>
            </a:r>
            <a:r>
              <a:rPr lang="en-AE" b="1" dirty="0"/>
              <a:t>stress-test </a:t>
            </a:r>
            <a:r>
              <a:rPr lang="en-AE" dirty="0"/>
              <a:t>almost</a:t>
            </a:r>
            <a:r>
              <a:rPr lang="en-AE" b="1" dirty="0"/>
              <a:t> filled up the disk </a:t>
            </a:r>
            <a:r>
              <a:rPr lang="en-AE" dirty="0"/>
              <a:t>with thousands of 50MB temporary files </a:t>
            </a:r>
          </a:p>
          <a:p>
            <a:pPr lvl="1"/>
            <a:r>
              <a:rPr lang="en-AE" sz="1800" dirty="0"/>
              <a:t>deleting them didn’t help!</a:t>
            </a:r>
          </a:p>
          <a:p>
            <a:pPr lvl="1"/>
            <a:r>
              <a:rPr lang="en-US" sz="1800" dirty="0"/>
              <a:t>The Windows </a:t>
            </a:r>
            <a:r>
              <a:rPr lang="en-US" sz="1800" dirty="0" err="1"/>
              <a:t>diskpart</a:t>
            </a:r>
            <a:r>
              <a:rPr lang="en-US" sz="1800" dirty="0"/>
              <a:t> tool saved the day</a:t>
            </a:r>
            <a:endParaRPr lang="en-AE" sz="1800" dirty="0"/>
          </a:p>
          <a:p>
            <a:r>
              <a:rPr lang="en-US" i="1" dirty="0"/>
              <a:t>Many small issues… but I didn’t give up!</a:t>
            </a:r>
            <a:endParaRPr lang="en-AE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081B09-8781-EAD4-681E-F7952FBD3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87" y="5428747"/>
            <a:ext cx="6243415" cy="998945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2CB331-194E-A592-1A0D-4B78B75CB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211" y="2423942"/>
            <a:ext cx="5316091" cy="2373026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3913848C-CC49-4AE0-BB1D-B5CE8DD6B41C}"/>
              </a:ext>
            </a:extLst>
          </p:cNvPr>
          <p:cNvSpPr/>
          <p:nvPr/>
        </p:nvSpPr>
        <p:spPr>
          <a:xfrm rot="21106347">
            <a:off x="4935839" y="3474123"/>
            <a:ext cx="1346779" cy="259221"/>
          </a:xfrm>
          <a:prstGeom prst="rightArrow">
            <a:avLst>
              <a:gd name="adj1" fmla="val 36166"/>
              <a:gd name="adj2" fmla="val 98420"/>
            </a:avLst>
          </a:prstGeom>
          <a:solidFill>
            <a:srgbClr val="73BF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BFAA039-7EFA-17AE-6CC1-5FB2DA6FE6CD}"/>
              </a:ext>
            </a:extLst>
          </p:cNvPr>
          <p:cNvSpPr/>
          <p:nvPr/>
        </p:nvSpPr>
        <p:spPr>
          <a:xfrm rot="722338">
            <a:off x="4590171" y="5696964"/>
            <a:ext cx="793798" cy="266484"/>
          </a:xfrm>
          <a:prstGeom prst="rightArrow">
            <a:avLst>
              <a:gd name="adj1" fmla="val 36166"/>
              <a:gd name="adj2" fmla="val 98420"/>
            </a:avLst>
          </a:prstGeom>
          <a:solidFill>
            <a:srgbClr val="73BF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6717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 Achievements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809506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4E0F9-0B4B-8388-7E39-D73818C4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C96B54A8-A1E0-EA5B-CDC5-3C546FB81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579114DC-43A1-C6F3-98F0-5E0A727D7ED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B6696254-98FC-CE8C-2361-DB3CC500B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EB4718B0-AECB-ABB3-26A4-42BAC654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38D52B5A-BCCB-FD56-DEDB-526310EBE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E9C438EA-707A-5323-FB30-39E95A7A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3C45B8E-AD87-C4D5-5F83-9608E839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Performance Insights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9AF87574-B746-D926-EB9C-625690F6E4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6768250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18100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7D7FE8-10B4-F407-78F7-F1EE08E4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CA8560FA-BBAB-1EEA-4BBA-9FF3C1084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513E4045-457C-DD86-8C76-AF3F8C3A14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64E11FB0-B5DE-2F83-7BA4-E721431F1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39857803-1768-C003-A44B-9F8FA154B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8544A665-CD1B-4514-07C5-98C7B6C231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5D10340-197E-7380-6094-25342F320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7FE06F9C-B48A-23F2-A2E9-6D574C4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8117114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scaling and other Improvements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82B1DDBC-7118-F27F-54EC-6FEFD794C1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4114429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85886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9048E-5720-E196-9B86-BFD5833EA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544BD0E8-961E-90CA-4DFE-A9864232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C0828EDC-EC59-9B58-A95E-72D5BC10CEB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04D1BC36-AF74-638E-DF61-1C901E387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D7084A6C-5892-628B-D997-EA6B6F4931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5E466895-4670-A874-69DA-26E569A60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FB62B434-43D9-32DE-9114-3F7206368C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FEEA8AF-4987-647C-67DB-0A2D4AC78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Cost-Efficiency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76A520B7-5492-D442-E363-DB586D9E9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9665395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34195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tango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0572" y="1419225"/>
            <a:ext cx="3544894" cy="2456089"/>
          </a:xfrm>
        </p:spPr>
        <p:txBody>
          <a:bodyPr rtlCol="0">
            <a:normAutofit/>
          </a:bodyPr>
          <a:lstStyle/>
          <a:p>
            <a:pPr rtl="0"/>
            <a:r>
              <a:rPr lang="en-US" sz="4400" noProof="0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5" name="Immagine 4" descr="Numeri digitali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195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{F59CB84C-DBDE-4D99-9C32-8D37E985A1CA}TF9cd6fad6-da1d-416b-8dc8-a086cd1045b1af63d5e5_win32-e4eb83cc1259</Template>
  <TotalTime>2830</TotalTime>
  <Words>519</Words>
  <Application>Microsoft Office PowerPoint</Application>
  <PresentationFormat>Widescreen</PresentationFormat>
  <Paragraphs>51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Gill Sans MT</vt:lpstr>
      <vt:lpstr>Wingdings 2</vt:lpstr>
      <vt:lpstr>Personalizzata</vt:lpstr>
      <vt:lpstr>Cloud-Based  File Storage System</vt:lpstr>
      <vt:lpstr>Project Overview</vt:lpstr>
      <vt:lpstr>System Architecture</vt:lpstr>
      <vt:lpstr>Nextcloud  Features</vt:lpstr>
      <vt:lpstr>Monitoring Stack</vt:lpstr>
      <vt:lpstr>Load-testing results: 500kB - 5MB</vt:lpstr>
      <vt:lpstr>Load-testing results: 50MB</vt:lpstr>
      <vt:lpstr>Challenges &amp; Solutions</vt:lpstr>
      <vt:lpstr> Achievements</vt:lpstr>
      <vt:lpstr>Performance Insights</vt:lpstr>
      <vt:lpstr>scaling and other Improvements</vt:lpstr>
      <vt:lpstr>Cost-Efficiency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Cusma Fait</dc:creator>
  <cp:lastModifiedBy>Omar Cusma Fait</cp:lastModifiedBy>
  <cp:revision>17</cp:revision>
  <dcterms:created xsi:type="dcterms:W3CDTF">2026-05-21T10:21:56Z</dcterms:created>
  <dcterms:modified xsi:type="dcterms:W3CDTF">2026-07-09T12:00:09Z</dcterms:modified>
</cp:coreProperties>
</file>